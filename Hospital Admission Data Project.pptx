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2"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5C32"/>
    <a:srgbClr val="F2E9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4" d="100"/>
          <a:sy n="104" d="100"/>
        </p:scale>
        <p:origin x="14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CD3242-7279-4A56-9192-2B0C18D7BB22}"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CC081-3F4A-4F73-91C3-43B902A11587}" type="slidenum">
              <a:rPr lang="en-US" smtClean="0"/>
              <a:t>‹#›</a:t>
            </a:fld>
            <a:endParaRPr lang="en-US"/>
          </a:p>
        </p:txBody>
      </p:sp>
    </p:spTree>
    <p:extLst>
      <p:ext uri="{BB962C8B-B14F-4D97-AF65-F5344CB8AC3E}">
        <p14:creationId xmlns:p14="http://schemas.microsoft.com/office/powerpoint/2010/main" val="1762704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1294D-FE1B-436D-A978-22983957CB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E0A018-3054-4EC0-9B6D-79802A10F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8FAD91-AF9B-4942-8AC5-A0B5A6870DE6}"/>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5" name="Footer Placeholder 4">
            <a:extLst>
              <a:ext uri="{FF2B5EF4-FFF2-40B4-BE49-F238E27FC236}">
                <a16:creationId xmlns:a16="http://schemas.microsoft.com/office/drawing/2014/main" id="{87DC6013-EEF2-444F-96BE-7F7291BA5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0A4A4-C854-437D-89B2-4EDC2FD794CA}"/>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1695392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D27F9-057F-4DF7-AEF8-D94C4EFF32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2E74F3-BCF9-407B-8041-05A507DB92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18E644-E1F6-45ED-8BC2-4F0376A9420C}"/>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5" name="Footer Placeholder 4">
            <a:extLst>
              <a:ext uri="{FF2B5EF4-FFF2-40B4-BE49-F238E27FC236}">
                <a16:creationId xmlns:a16="http://schemas.microsoft.com/office/drawing/2014/main" id="{48F56316-432D-481C-8D04-3651EE372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ED62C-95B9-4A93-A1E6-645594AC871B}"/>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3068837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D9191-283D-4406-AEBA-654165712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08C484-2917-4160-A81E-AAD67BD622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32A543-2B03-4861-BFBA-21E528561D81}"/>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5" name="Footer Placeholder 4">
            <a:extLst>
              <a:ext uri="{FF2B5EF4-FFF2-40B4-BE49-F238E27FC236}">
                <a16:creationId xmlns:a16="http://schemas.microsoft.com/office/drawing/2014/main" id="{650FE8EA-38BC-43D2-966C-E1FCAB4E48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DDD41-F0BF-4C87-865D-A5F30FEB82EC}"/>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533768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B2D6-729E-47CE-8F13-3E853E07B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B98BC3-4248-4008-AD13-3CAC319D54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D2012E-A798-4EAF-AA4A-AD9CD95E4A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1BD247-7474-40E1-9856-029F29D15C66}"/>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6" name="Footer Placeholder 5">
            <a:extLst>
              <a:ext uri="{FF2B5EF4-FFF2-40B4-BE49-F238E27FC236}">
                <a16:creationId xmlns:a16="http://schemas.microsoft.com/office/drawing/2014/main" id="{3D11D3D3-B5B0-44EA-9ADE-5A06A34224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EDA80F-91A6-449F-9149-932F206103C0}"/>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1639350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F73C-32C1-46D0-A4C1-6B50B9F0B4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B84370-4463-443A-8780-FB454DC016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2AD99-87FC-4161-A665-A9AF5476A8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AB9C64-139B-4AF4-9663-1BFE292775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24CA16-B93E-4C38-A88E-CBC32A1A89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1FE064-90EB-45A3-A551-64C4CD84F4B5}"/>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8" name="Footer Placeholder 7">
            <a:extLst>
              <a:ext uri="{FF2B5EF4-FFF2-40B4-BE49-F238E27FC236}">
                <a16:creationId xmlns:a16="http://schemas.microsoft.com/office/drawing/2014/main" id="{229FA6D2-5714-42DA-A567-674D880BE1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77681D-D6D3-40A3-922A-6AC915BCADF7}"/>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321689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5B77-80B5-4639-94C9-FF4E88C635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FEB0DD-A6A2-4297-B869-E98B89DCB425}"/>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4" name="Footer Placeholder 3">
            <a:extLst>
              <a:ext uri="{FF2B5EF4-FFF2-40B4-BE49-F238E27FC236}">
                <a16:creationId xmlns:a16="http://schemas.microsoft.com/office/drawing/2014/main" id="{2676D931-2A59-4B8F-A84B-21A0D1F55C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9A2C48-2F80-4DB6-A260-4A84107A047F}"/>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1108362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5D8C3-A381-4BFE-BC66-027990872931}"/>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3" name="Footer Placeholder 2">
            <a:extLst>
              <a:ext uri="{FF2B5EF4-FFF2-40B4-BE49-F238E27FC236}">
                <a16:creationId xmlns:a16="http://schemas.microsoft.com/office/drawing/2014/main" id="{140D1306-7CF5-4214-A79E-23691C482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B51620-D7DA-41CC-9E85-8B9B6619B260}"/>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3653872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6E243-23BB-465D-9386-99B21DB207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441902-A3FE-462C-9D90-D89D8EAE9C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343BA9-DF27-4745-932F-764FEAFF9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FCEACA-8B20-4029-B613-726FA2925F2E}"/>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6" name="Footer Placeholder 5">
            <a:extLst>
              <a:ext uri="{FF2B5EF4-FFF2-40B4-BE49-F238E27FC236}">
                <a16:creationId xmlns:a16="http://schemas.microsoft.com/office/drawing/2014/main" id="{F5624303-06EE-477C-9614-6A91E2734D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6B2F7E-065C-42CB-82D5-4ABDC20BCF84}"/>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3574419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28FA-C078-41A2-9519-BD4537791E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144280-7F38-4749-9C5F-6A78A0A0D2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F66D0-B133-4BAE-9F2D-4241548E3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4239B0-C92C-4FA9-876F-297A9D819AF9}"/>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6" name="Footer Placeholder 5">
            <a:extLst>
              <a:ext uri="{FF2B5EF4-FFF2-40B4-BE49-F238E27FC236}">
                <a16:creationId xmlns:a16="http://schemas.microsoft.com/office/drawing/2014/main" id="{E0168D90-3056-4932-949B-CB8DE742A1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E523D2-54CD-4061-ADE6-AF5AEA02A74B}"/>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228769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1E8E3-7BA9-4ED3-BBC6-8D63B4E0CA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56F7FF-270B-4577-8B98-9A80BC1C67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B0AF0-0193-4149-9F35-04B7BC8900BA}"/>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5" name="Footer Placeholder 4">
            <a:extLst>
              <a:ext uri="{FF2B5EF4-FFF2-40B4-BE49-F238E27FC236}">
                <a16:creationId xmlns:a16="http://schemas.microsoft.com/office/drawing/2014/main" id="{6E2F3BBB-35BA-4799-93EE-CBD8BDA83B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E8D99-A012-459B-9144-C7A4C67DB354}"/>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320151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9E1D32-70E3-4DB7-891A-A73C844298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9DBA19-0D92-4DB4-8080-973E368AC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09CAF7-8DD4-4F21-B54F-06AFB3CC2626}"/>
              </a:ext>
            </a:extLst>
          </p:cNvPr>
          <p:cNvSpPr>
            <a:spLocks noGrp="1"/>
          </p:cNvSpPr>
          <p:nvPr>
            <p:ph type="dt" sz="half" idx="10"/>
          </p:nvPr>
        </p:nvSpPr>
        <p:spPr/>
        <p:txBody>
          <a:bodyPr/>
          <a:lstStyle/>
          <a:p>
            <a:fld id="{04E3E6E1-C6B4-4148-9BF3-1CA56B6135B6}" type="datetimeFigureOut">
              <a:rPr lang="en-US" smtClean="0"/>
              <a:t>8/4/2026</a:t>
            </a:fld>
            <a:endParaRPr lang="en-US"/>
          </a:p>
        </p:txBody>
      </p:sp>
      <p:sp>
        <p:nvSpPr>
          <p:cNvPr id="5" name="Footer Placeholder 4">
            <a:extLst>
              <a:ext uri="{FF2B5EF4-FFF2-40B4-BE49-F238E27FC236}">
                <a16:creationId xmlns:a16="http://schemas.microsoft.com/office/drawing/2014/main" id="{222F873C-886A-4C7B-B0E9-255655E136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232BA-2868-47E3-91C1-3A580863A3E9}"/>
              </a:ext>
            </a:extLst>
          </p:cNvPr>
          <p:cNvSpPr>
            <a:spLocks noGrp="1"/>
          </p:cNvSpPr>
          <p:nvPr>
            <p:ph type="sldNum" sz="quarter" idx="12"/>
          </p:nvPr>
        </p:nvSpPr>
        <p:spPr/>
        <p:txBody>
          <a:bodyPr/>
          <a:lstStyle/>
          <a:p>
            <a:fld id="{2B737022-F5B8-46E3-84B5-CD9174CE0EF3}" type="slidenum">
              <a:rPr lang="en-US" smtClean="0"/>
              <a:t>‹#›</a:t>
            </a:fld>
            <a:endParaRPr lang="en-US"/>
          </a:p>
        </p:txBody>
      </p:sp>
    </p:spTree>
    <p:extLst>
      <p:ext uri="{BB962C8B-B14F-4D97-AF65-F5344CB8AC3E}">
        <p14:creationId xmlns:p14="http://schemas.microsoft.com/office/powerpoint/2010/main" val="664841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E1B793-DC49-483D-9ED4-9A4656783F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A185D5-4384-4BFB-9760-DE4C6C8CAE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DCB75-A6F3-4806-92C5-8EDB284735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3E6E1-C6B4-4148-9BF3-1CA56B6135B6}" type="datetimeFigureOut">
              <a:rPr lang="en-US" smtClean="0"/>
              <a:t>8/4/2026</a:t>
            </a:fld>
            <a:endParaRPr lang="en-US"/>
          </a:p>
        </p:txBody>
      </p:sp>
      <p:sp>
        <p:nvSpPr>
          <p:cNvPr id="5" name="Footer Placeholder 4">
            <a:extLst>
              <a:ext uri="{FF2B5EF4-FFF2-40B4-BE49-F238E27FC236}">
                <a16:creationId xmlns:a16="http://schemas.microsoft.com/office/drawing/2014/main" id="{4964C5E1-73B8-4860-8277-145EB9804E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3B5F65-2760-49E6-B77D-5579F98A6E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737022-F5B8-46E3-84B5-CD9174CE0EF3}" type="slidenum">
              <a:rPr lang="en-US" smtClean="0"/>
              <a:t>‹#›</a:t>
            </a:fld>
            <a:endParaRPr lang="en-US"/>
          </a:p>
        </p:txBody>
      </p:sp>
    </p:spTree>
    <p:extLst>
      <p:ext uri="{BB962C8B-B14F-4D97-AF65-F5344CB8AC3E}">
        <p14:creationId xmlns:p14="http://schemas.microsoft.com/office/powerpoint/2010/main" val="3307582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ilbank.org/publications/assessing-hospital-efficiency-considerations-for-states-seeking-to-reduce-health-care-cost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researchoutreach.org/articles/xai-ews-explainable-ai-model-predicting-acute-critical-illnes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openaccessgovernment.org/healthcare-networks-in-the-age-of-iot/177743/"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pikist.com/free-photo-isjqy"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l="-2000" r="-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0EA4-2DB1-436D-BB5B-98BFA4327840}"/>
              </a:ext>
            </a:extLst>
          </p:cNvPr>
          <p:cNvSpPr>
            <a:spLocks noGrp="1"/>
          </p:cNvSpPr>
          <p:nvPr>
            <p:ph type="ctrTitle"/>
          </p:nvPr>
        </p:nvSpPr>
        <p:spPr>
          <a:xfrm>
            <a:off x="1109133" y="1413933"/>
            <a:ext cx="9389533" cy="622828"/>
          </a:xfrm>
          <a:noFill/>
        </p:spPr>
        <p:txBody>
          <a:bodyPr>
            <a:normAutofit fontScale="90000"/>
          </a:bodyPr>
          <a:lstStyle/>
          <a:p>
            <a:r>
              <a:rPr lang="en-US" sz="4000" b="1" dirty="0">
                <a:solidFill>
                  <a:srgbClr val="0070C0"/>
                </a:solidFill>
                <a:latin typeface="+mn-lt"/>
              </a:rPr>
              <a:t>Hospital Admission Data Project</a:t>
            </a:r>
          </a:p>
        </p:txBody>
      </p:sp>
      <p:sp>
        <p:nvSpPr>
          <p:cNvPr id="3" name="Subtitle 2">
            <a:extLst>
              <a:ext uri="{FF2B5EF4-FFF2-40B4-BE49-F238E27FC236}">
                <a16:creationId xmlns:a16="http://schemas.microsoft.com/office/drawing/2014/main" id="{649B3751-5478-42BB-92D0-44EC2BD93A82}"/>
              </a:ext>
            </a:extLst>
          </p:cNvPr>
          <p:cNvSpPr>
            <a:spLocks noGrp="1"/>
          </p:cNvSpPr>
          <p:nvPr>
            <p:ph type="subTitle" idx="1"/>
          </p:nvPr>
        </p:nvSpPr>
        <p:spPr>
          <a:xfrm>
            <a:off x="1936750" y="2036761"/>
            <a:ext cx="8318499" cy="369333"/>
          </a:xfrm>
        </p:spPr>
        <p:txBody>
          <a:bodyPr>
            <a:normAutofit/>
          </a:bodyPr>
          <a:lstStyle/>
          <a:p>
            <a:r>
              <a:rPr lang="en-US" sz="1800" b="1" dirty="0">
                <a:solidFill>
                  <a:srgbClr val="0070C0">
                    <a:alpha val="50000"/>
                  </a:srgbClr>
                </a:solidFill>
                <a:latin typeface="+mj-lt"/>
              </a:rPr>
              <a:t>Power BI Dashboard Analysis</a:t>
            </a:r>
          </a:p>
        </p:txBody>
      </p:sp>
      <p:sp>
        <p:nvSpPr>
          <p:cNvPr id="10" name="TextBox 9">
            <a:extLst>
              <a:ext uri="{FF2B5EF4-FFF2-40B4-BE49-F238E27FC236}">
                <a16:creationId xmlns:a16="http://schemas.microsoft.com/office/drawing/2014/main" id="{8B08ECD5-6A36-4D1A-890B-87869347DE94}"/>
              </a:ext>
            </a:extLst>
          </p:cNvPr>
          <p:cNvSpPr txBox="1"/>
          <p:nvPr/>
        </p:nvSpPr>
        <p:spPr>
          <a:xfrm>
            <a:off x="4440763" y="3963539"/>
            <a:ext cx="3547532" cy="338554"/>
          </a:xfrm>
          <a:prstGeom prst="rect">
            <a:avLst/>
          </a:prstGeom>
          <a:noFill/>
        </p:spPr>
        <p:txBody>
          <a:bodyPr wrap="square">
            <a:spAutoFit/>
          </a:bodyPr>
          <a:lstStyle/>
          <a:p>
            <a:r>
              <a:rPr lang="en-US" sz="1600" b="1" dirty="0">
                <a:solidFill>
                  <a:schemeClr val="tx2"/>
                </a:solidFill>
              </a:rPr>
              <a:t>Presented by: Ahmed Adebowale A.</a:t>
            </a:r>
          </a:p>
        </p:txBody>
      </p:sp>
      <p:sp>
        <p:nvSpPr>
          <p:cNvPr id="12" name="TextBox 11">
            <a:extLst>
              <a:ext uri="{FF2B5EF4-FFF2-40B4-BE49-F238E27FC236}">
                <a16:creationId xmlns:a16="http://schemas.microsoft.com/office/drawing/2014/main" id="{E43DD35B-4D9A-414F-B776-8114A3F0BB05}"/>
              </a:ext>
            </a:extLst>
          </p:cNvPr>
          <p:cNvSpPr txBox="1"/>
          <p:nvPr/>
        </p:nvSpPr>
        <p:spPr>
          <a:xfrm>
            <a:off x="4775196" y="4334431"/>
            <a:ext cx="2878667" cy="338554"/>
          </a:xfrm>
          <a:prstGeom prst="rect">
            <a:avLst/>
          </a:prstGeom>
          <a:noFill/>
        </p:spPr>
        <p:txBody>
          <a:bodyPr wrap="square">
            <a:spAutoFit/>
          </a:bodyPr>
          <a:lstStyle/>
          <a:p>
            <a:r>
              <a:rPr lang="en-US" sz="1600" b="1" dirty="0">
                <a:solidFill>
                  <a:schemeClr val="tx2"/>
                </a:solidFill>
              </a:rPr>
              <a:t>Power BI Internship Project </a:t>
            </a:r>
          </a:p>
        </p:txBody>
      </p:sp>
      <p:sp>
        <p:nvSpPr>
          <p:cNvPr id="13" name="TextBox 12">
            <a:extLst>
              <a:ext uri="{FF2B5EF4-FFF2-40B4-BE49-F238E27FC236}">
                <a16:creationId xmlns:a16="http://schemas.microsoft.com/office/drawing/2014/main" id="{54319521-7098-43C0-9EDF-C34E8AA5C5C2}"/>
              </a:ext>
            </a:extLst>
          </p:cNvPr>
          <p:cNvSpPr txBox="1"/>
          <p:nvPr/>
        </p:nvSpPr>
        <p:spPr>
          <a:xfrm>
            <a:off x="4974161" y="4703763"/>
            <a:ext cx="2243669" cy="338554"/>
          </a:xfrm>
          <a:prstGeom prst="rect">
            <a:avLst/>
          </a:prstGeom>
          <a:noFill/>
        </p:spPr>
        <p:txBody>
          <a:bodyPr wrap="square" rtlCol="0">
            <a:spAutoFit/>
          </a:bodyPr>
          <a:lstStyle/>
          <a:p>
            <a:r>
              <a:rPr lang="en-US" sz="1600" b="1" dirty="0">
                <a:solidFill>
                  <a:schemeClr val="tx2"/>
                </a:solidFill>
              </a:rPr>
              <a:t>Tech Studio Academy</a:t>
            </a:r>
          </a:p>
        </p:txBody>
      </p:sp>
      <p:sp>
        <p:nvSpPr>
          <p:cNvPr id="14" name="TextBox 13">
            <a:extLst>
              <a:ext uri="{FF2B5EF4-FFF2-40B4-BE49-F238E27FC236}">
                <a16:creationId xmlns:a16="http://schemas.microsoft.com/office/drawing/2014/main" id="{69B3DECA-C6FD-4853-B1BB-52D3C3A60F55}"/>
              </a:ext>
            </a:extLst>
          </p:cNvPr>
          <p:cNvSpPr txBox="1"/>
          <p:nvPr/>
        </p:nvSpPr>
        <p:spPr>
          <a:xfrm>
            <a:off x="5554128" y="5073095"/>
            <a:ext cx="1083733" cy="338554"/>
          </a:xfrm>
          <a:prstGeom prst="rect">
            <a:avLst/>
          </a:prstGeom>
          <a:noFill/>
        </p:spPr>
        <p:txBody>
          <a:bodyPr wrap="square" rtlCol="0">
            <a:spAutoFit/>
          </a:bodyPr>
          <a:lstStyle/>
          <a:p>
            <a:r>
              <a:rPr lang="en-US" sz="1600" b="1" dirty="0">
                <a:solidFill>
                  <a:schemeClr val="tx2"/>
                </a:solidFill>
              </a:rPr>
              <a:t>July 2026</a:t>
            </a:r>
          </a:p>
        </p:txBody>
      </p:sp>
      <p:sp>
        <p:nvSpPr>
          <p:cNvPr id="15" name="Rectangle: Diagonal Corners Snipped 14">
            <a:extLst>
              <a:ext uri="{FF2B5EF4-FFF2-40B4-BE49-F238E27FC236}">
                <a16:creationId xmlns:a16="http://schemas.microsoft.com/office/drawing/2014/main" id="{38D2DEBF-055E-4532-9C2A-BC017C763243}"/>
              </a:ext>
            </a:extLst>
          </p:cNvPr>
          <p:cNvSpPr/>
          <p:nvPr/>
        </p:nvSpPr>
        <p:spPr>
          <a:xfrm>
            <a:off x="8903855" y="6580908"/>
            <a:ext cx="3288145" cy="277092"/>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50" b="1" dirty="0">
                <a:solidFill>
                  <a:srgbClr val="002060"/>
                </a:solidFill>
                <a:latin typeface="Inter" panose="02000503000000020004" pitchFamily="2" charset="0"/>
              </a:rPr>
              <a:t>Tools: MySQL | Power BI | Power Query | DAX</a:t>
            </a:r>
          </a:p>
          <a:p>
            <a:pPr algn="ctr"/>
            <a:endParaRPr lang="en-US" sz="1050" b="1" dirty="0">
              <a:solidFill>
                <a:srgbClr val="002060"/>
              </a:solidFill>
              <a:latin typeface="Inter" panose="02000503000000020004" pitchFamily="2" charset="0"/>
            </a:endParaRPr>
          </a:p>
        </p:txBody>
      </p:sp>
    </p:spTree>
    <p:extLst>
      <p:ext uri="{BB962C8B-B14F-4D97-AF65-F5344CB8AC3E}">
        <p14:creationId xmlns:p14="http://schemas.microsoft.com/office/powerpoint/2010/main" val="1649738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28F6C-545A-449E-AC76-C7680C7BB8DB}"/>
              </a:ext>
            </a:extLst>
          </p:cNvPr>
          <p:cNvSpPr>
            <a:spLocks noGrp="1"/>
          </p:cNvSpPr>
          <p:nvPr>
            <p:ph type="title"/>
          </p:nvPr>
        </p:nvSpPr>
        <p:spPr>
          <a:xfrm>
            <a:off x="110066" y="136210"/>
            <a:ext cx="3598333" cy="677335"/>
          </a:xfrm>
          <a:ln>
            <a:solidFill>
              <a:srgbClr val="8C5C32">
                <a:alpha val="50000"/>
              </a:srgbClr>
            </a:solidFill>
          </a:ln>
        </p:spPr>
        <p:txBody>
          <a:bodyPr>
            <a:noAutofit/>
          </a:bodyPr>
          <a:lstStyle/>
          <a:p>
            <a:pPr marL="0" indent="0"/>
            <a:r>
              <a:rPr lang="en-US" sz="2800" b="1" dirty="0">
                <a:solidFill>
                  <a:schemeClr val="tx1">
                    <a:lumMod val="95000"/>
                    <a:lumOff val="5000"/>
                  </a:schemeClr>
                </a:solidFill>
                <a:latin typeface="Arial Black" panose="020B0A04020102020204" pitchFamily="34" charset="0"/>
              </a:rPr>
              <a:t>Project Overview</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B7FBF483-6F25-4D85-B00F-B5DD62E23634}"/>
              </a:ext>
            </a:extLst>
          </p:cNvPr>
          <p:cNvCxnSpPr>
            <a:cxnSpLocks/>
          </p:cNvCxnSpPr>
          <p:nvPr/>
        </p:nvCxnSpPr>
        <p:spPr>
          <a:xfrm>
            <a:off x="110064" y="220879"/>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5C9FDE4A-513A-4A26-B0A6-EB0E1E8EDBF0}"/>
              </a:ext>
            </a:extLst>
          </p:cNvPr>
          <p:cNvSpPr/>
          <p:nvPr/>
        </p:nvSpPr>
        <p:spPr>
          <a:xfrm>
            <a:off x="107369" y="2499047"/>
            <a:ext cx="2834640" cy="280928"/>
          </a:xfrm>
          <a:prstGeom prst="round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171450" indent="-171450">
              <a:buFont typeface="Wingdings" panose="05000000000000000000" pitchFamily="2" charset="2"/>
              <a:buChar char="§"/>
            </a:pPr>
            <a:r>
              <a:rPr lang="en-US" sz="1050" b="1" dirty="0">
                <a:solidFill>
                  <a:srgbClr val="002060"/>
                </a:solidFill>
                <a:latin typeface="Inter" panose="02000503000000020004" pitchFamily="2" charset="0"/>
              </a:rPr>
              <a:t>ANALYZE PATIENT ADMISSIONS </a:t>
            </a:r>
          </a:p>
        </p:txBody>
      </p:sp>
      <p:sp>
        <p:nvSpPr>
          <p:cNvPr id="29" name="Rectangle: Diagonal Corners Snipped 28">
            <a:extLst>
              <a:ext uri="{FF2B5EF4-FFF2-40B4-BE49-F238E27FC236}">
                <a16:creationId xmlns:a16="http://schemas.microsoft.com/office/drawing/2014/main" id="{BBA55AC6-ACC4-45C4-A4EC-3D02ED5E30D5}"/>
              </a:ext>
            </a:extLst>
          </p:cNvPr>
          <p:cNvSpPr/>
          <p:nvPr/>
        </p:nvSpPr>
        <p:spPr>
          <a:xfrm>
            <a:off x="107369" y="1780123"/>
            <a:ext cx="2048934" cy="296334"/>
          </a:xfrm>
          <a:prstGeom prst="snip2DiagRect">
            <a:avLst/>
          </a:prstGeom>
          <a:solidFill>
            <a:srgbClr val="F2E9D8"/>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Project Objective:</a:t>
            </a:r>
          </a:p>
        </p:txBody>
      </p:sp>
      <p:sp>
        <p:nvSpPr>
          <p:cNvPr id="30" name="Rectangle: Rounded Corners 29">
            <a:extLst>
              <a:ext uri="{FF2B5EF4-FFF2-40B4-BE49-F238E27FC236}">
                <a16:creationId xmlns:a16="http://schemas.microsoft.com/office/drawing/2014/main" id="{8F7631E2-F750-467D-B6B2-7F5F5C699E59}"/>
              </a:ext>
            </a:extLst>
          </p:cNvPr>
          <p:cNvSpPr/>
          <p:nvPr/>
        </p:nvSpPr>
        <p:spPr>
          <a:xfrm>
            <a:off x="107369" y="3425193"/>
            <a:ext cx="2834640" cy="280928"/>
          </a:xfrm>
          <a:prstGeom prst="round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171450" indent="-171450">
              <a:buFont typeface="Wingdings" panose="05000000000000000000" pitchFamily="2" charset="2"/>
              <a:buChar char="§"/>
            </a:pPr>
            <a:r>
              <a:rPr lang="en-US" sz="1050" b="1" dirty="0">
                <a:solidFill>
                  <a:srgbClr val="002060"/>
                </a:solidFill>
                <a:latin typeface="Inter" panose="02000503000000020004" pitchFamily="2" charset="0"/>
              </a:rPr>
              <a:t>MONITOR HOSPITAL PERFORMANCE</a:t>
            </a:r>
          </a:p>
        </p:txBody>
      </p:sp>
      <p:sp>
        <p:nvSpPr>
          <p:cNvPr id="31" name="Rectangle: Rounded Corners 30">
            <a:extLst>
              <a:ext uri="{FF2B5EF4-FFF2-40B4-BE49-F238E27FC236}">
                <a16:creationId xmlns:a16="http://schemas.microsoft.com/office/drawing/2014/main" id="{6B78D729-DE13-4600-9C06-C929D5C27739}"/>
              </a:ext>
            </a:extLst>
          </p:cNvPr>
          <p:cNvSpPr/>
          <p:nvPr/>
        </p:nvSpPr>
        <p:spPr>
          <a:xfrm>
            <a:off x="107369" y="4342047"/>
            <a:ext cx="2834640" cy="280928"/>
          </a:xfrm>
          <a:prstGeom prst="round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171450" indent="-171450">
              <a:buFont typeface="Wingdings" panose="05000000000000000000" pitchFamily="2" charset="2"/>
              <a:buChar char="§"/>
            </a:pPr>
            <a:r>
              <a:rPr lang="en-US" sz="1050" b="1" dirty="0">
                <a:solidFill>
                  <a:srgbClr val="002060"/>
                </a:solidFill>
                <a:latin typeface="Inter" panose="02000503000000020004" pitchFamily="2" charset="0"/>
              </a:rPr>
              <a:t>IDENTIFY HIGH-RISK PATIENTS</a:t>
            </a:r>
          </a:p>
        </p:txBody>
      </p:sp>
      <p:sp>
        <p:nvSpPr>
          <p:cNvPr id="32" name="Rectangle: Rounded Corners 31">
            <a:extLst>
              <a:ext uri="{FF2B5EF4-FFF2-40B4-BE49-F238E27FC236}">
                <a16:creationId xmlns:a16="http://schemas.microsoft.com/office/drawing/2014/main" id="{7CECFFA3-8B12-4283-B7D2-D2C5796391AF}"/>
              </a:ext>
            </a:extLst>
          </p:cNvPr>
          <p:cNvSpPr/>
          <p:nvPr/>
        </p:nvSpPr>
        <p:spPr>
          <a:xfrm>
            <a:off x="107369" y="5266033"/>
            <a:ext cx="2834640" cy="280928"/>
          </a:xfrm>
          <a:prstGeom prst="round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171450" indent="-171450">
              <a:buFont typeface="Wingdings" panose="05000000000000000000" pitchFamily="2" charset="2"/>
              <a:buChar char="§"/>
            </a:pPr>
            <a:r>
              <a:rPr lang="en-US" sz="1050" b="1" dirty="0">
                <a:solidFill>
                  <a:srgbClr val="002060"/>
                </a:solidFill>
                <a:latin typeface="Inter" panose="02000503000000020004" pitchFamily="2" charset="0"/>
              </a:rPr>
              <a:t>EVALUATE TREATMENT COSTS</a:t>
            </a:r>
          </a:p>
        </p:txBody>
      </p:sp>
      <p:sp>
        <p:nvSpPr>
          <p:cNvPr id="33" name="Rectangle: Rounded Corners 32">
            <a:extLst>
              <a:ext uri="{FF2B5EF4-FFF2-40B4-BE49-F238E27FC236}">
                <a16:creationId xmlns:a16="http://schemas.microsoft.com/office/drawing/2014/main" id="{4BF9A429-7315-4188-AFCF-5FE49FC7F3C8}"/>
              </a:ext>
            </a:extLst>
          </p:cNvPr>
          <p:cNvSpPr/>
          <p:nvPr/>
        </p:nvSpPr>
        <p:spPr>
          <a:xfrm>
            <a:off x="107369" y="6278155"/>
            <a:ext cx="2834640" cy="280928"/>
          </a:xfrm>
          <a:prstGeom prst="round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171450" indent="-171450">
              <a:buFont typeface="Wingdings" panose="05000000000000000000" pitchFamily="2" charset="2"/>
              <a:buChar char="§"/>
            </a:pPr>
            <a:r>
              <a:rPr lang="en-US" sz="1050" b="1" dirty="0">
                <a:solidFill>
                  <a:srgbClr val="002060"/>
                </a:solidFill>
                <a:latin typeface="Inter" panose="02000503000000020004" pitchFamily="2" charset="0"/>
              </a:rPr>
              <a:t>TRACK PATIENT OUTCOMES</a:t>
            </a:r>
          </a:p>
        </p:txBody>
      </p:sp>
      <p:sp>
        <p:nvSpPr>
          <p:cNvPr id="40" name="Callout: Line with Border and Accent Bar 39">
            <a:extLst>
              <a:ext uri="{FF2B5EF4-FFF2-40B4-BE49-F238E27FC236}">
                <a16:creationId xmlns:a16="http://schemas.microsoft.com/office/drawing/2014/main" id="{05FE16B2-B81B-4E35-9F25-EE0C6AE4079D}"/>
              </a:ext>
            </a:extLst>
          </p:cNvPr>
          <p:cNvSpPr>
            <a:spLocks noChangeAspect="1"/>
          </p:cNvSpPr>
          <p:nvPr/>
        </p:nvSpPr>
        <p:spPr>
          <a:xfrm>
            <a:off x="4953689" y="1780123"/>
            <a:ext cx="5212080" cy="729691"/>
          </a:xfrm>
          <a:prstGeom prst="accentBorderCallout1">
            <a:avLst>
              <a:gd name="adj1" fmla="val 79816"/>
              <a:gd name="adj2" fmla="val -10108"/>
              <a:gd name="adj3" fmla="val 112500"/>
              <a:gd name="adj4" fmla="val -38333"/>
            </a:avLst>
          </a:prstGeom>
          <a:solidFill>
            <a:srgbClr val="8C5C32">
              <a:alpha val="0"/>
            </a:srgbClr>
          </a:solidFill>
          <a:ln>
            <a:solidFill>
              <a:srgbClr val="8C5C32">
                <a:alpha val="50000"/>
              </a:srgb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457200" rtlCol="0" anchor="ctr"/>
          <a:lstStyle/>
          <a:p>
            <a:pPr marL="171450" indent="-171450">
              <a:buFont typeface="Arial" panose="020B0604020202020204" pitchFamily="34" charset="0"/>
              <a:buChar char="•"/>
            </a:pPr>
            <a:r>
              <a:rPr lang="en-US" sz="1000" dirty="0">
                <a:solidFill>
                  <a:srgbClr val="002060"/>
                </a:solidFill>
                <a:latin typeface="Inter" panose="02000503000000020004" pitchFamily="2" charset="0"/>
              </a:rPr>
              <a:t>Examine the total number of patient admissions.</a:t>
            </a:r>
          </a:p>
          <a:p>
            <a:pPr marL="171450" indent="-171450">
              <a:buFont typeface="Arial" panose="020B0604020202020204" pitchFamily="34" charset="0"/>
              <a:buChar char="•"/>
            </a:pPr>
            <a:r>
              <a:rPr lang="en-US" sz="1000" dirty="0">
                <a:solidFill>
                  <a:srgbClr val="002060"/>
                </a:solidFill>
                <a:latin typeface="Inter" panose="02000503000000020004" pitchFamily="2" charset="0"/>
              </a:rPr>
              <a:t>Identify admission patterns across hospital departments</a:t>
            </a:r>
          </a:p>
          <a:p>
            <a:pPr marL="171450" indent="-171450">
              <a:buFont typeface="Arial" panose="020B0604020202020204" pitchFamily="34" charset="0"/>
              <a:buChar char="•"/>
            </a:pPr>
            <a:r>
              <a:rPr lang="en-US" sz="1000" dirty="0">
                <a:solidFill>
                  <a:srgbClr val="002060"/>
                </a:solidFill>
                <a:latin typeface="Inter" panose="02000503000000020004" pitchFamily="2" charset="0"/>
              </a:rPr>
              <a:t>Compare patient volumes to understand departmental workload and service demand. </a:t>
            </a:r>
          </a:p>
        </p:txBody>
      </p:sp>
      <p:sp>
        <p:nvSpPr>
          <p:cNvPr id="42" name="Callout: Line with Border and Accent Bar 41">
            <a:extLst>
              <a:ext uri="{FF2B5EF4-FFF2-40B4-BE49-F238E27FC236}">
                <a16:creationId xmlns:a16="http://schemas.microsoft.com/office/drawing/2014/main" id="{1DA05016-D537-41CC-9926-649BED160FD0}"/>
              </a:ext>
            </a:extLst>
          </p:cNvPr>
          <p:cNvSpPr>
            <a:spLocks noChangeAspect="1"/>
          </p:cNvSpPr>
          <p:nvPr/>
        </p:nvSpPr>
        <p:spPr>
          <a:xfrm>
            <a:off x="4953689" y="2699054"/>
            <a:ext cx="5212080" cy="729691"/>
          </a:xfrm>
          <a:prstGeom prst="accentBorderCallout1">
            <a:avLst>
              <a:gd name="adj1" fmla="val 79816"/>
              <a:gd name="adj2" fmla="val -10108"/>
              <a:gd name="adj3" fmla="val 112500"/>
              <a:gd name="adj4" fmla="val -38333"/>
            </a:avLst>
          </a:prstGeom>
          <a:solidFill>
            <a:srgbClr val="8C5C32">
              <a:alpha val="0"/>
            </a:srgbClr>
          </a:solidFill>
          <a:ln>
            <a:solidFill>
              <a:srgbClr val="8C5C32">
                <a:alpha val="50000"/>
              </a:srgb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457200" rtlCol="0" anchor="ctr"/>
          <a:lstStyle/>
          <a:p>
            <a:pPr marL="171450" indent="-171450">
              <a:buFont typeface="Arial" panose="020B0604020202020204" pitchFamily="34" charset="0"/>
              <a:buChar char="•"/>
            </a:pPr>
            <a:r>
              <a:rPr lang="en-US" sz="1000" dirty="0">
                <a:solidFill>
                  <a:srgbClr val="002060"/>
                </a:solidFill>
                <a:latin typeface="Inter" panose="02000503000000020004" pitchFamily="2" charset="0"/>
              </a:rPr>
              <a:t>Track key performance indicators (KPIs) such as average length of stay, treatment cost, and readmission rate.</a:t>
            </a:r>
          </a:p>
          <a:p>
            <a:pPr marL="171450" indent="-171450">
              <a:buFont typeface="Arial" panose="020B0604020202020204" pitchFamily="34" charset="0"/>
              <a:buChar char="•"/>
            </a:pPr>
            <a:r>
              <a:rPr lang="en-US" sz="1000" dirty="0">
                <a:solidFill>
                  <a:srgbClr val="002060"/>
                </a:solidFill>
              </a:rPr>
              <a:t>Evaluate departmental performance to identify strengths and areas requiring improvement.</a:t>
            </a:r>
            <a:endParaRPr lang="en-US" sz="1000" dirty="0">
              <a:solidFill>
                <a:srgbClr val="002060"/>
              </a:solidFill>
              <a:latin typeface="Inter" panose="02000503000000020004" pitchFamily="2" charset="0"/>
            </a:endParaRPr>
          </a:p>
        </p:txBody>
      </p:sp>
      <p:sp>
        <p:nvSpPr>
          <p:cNvPr id="43" name="Callout: Line with Border and Accent Bar 42">
            <a:extLst>
              <a:ext uri="{FF2B5EF4-FFF2-40B4-BE49-F238E27FC236}">
                <a16:creationId xmlns:a16="http://schemas.microsoft.com/office/drawing/2014/main" id="{67E21FFE-A8DC-4014-8496-FB1DC791571F}"/>
              </a:ext>
            </a:extLst>
          </p:cNvPr>
          <p:cNvSpPr>
            <a:spLocks noChangeAspect="1"/>
          </p:cNvSpPr>
          <p:nvPr/>
        </p:nvSpPr>
        <p:spPr>
          <a:xfrm>
            <a:off x="4953689" y="3617985"/>
            <a:ext cx="5212080" cy="729691"/>
          </a:xfrm>
          <a:prstGeom prst="accentBorderCallout1">
            <a:avLst>
              <a:gd name="adj1" fmla="val 79816"/>
              <a:gd name="adj2" fmla="val -10108"/>
              <a:gd name="adj3" fmla="val 112500"/>
              <a:gd name="adj4" fmla="val -38333"/>
            </a:avLst>
          </a:prstGeom>
          <a:solidFill>
            <a:srgbClr val="8C5C32">
              <a:alpha val="0"/>
            </a:srgbClr>
          </a:solidFill>
          <a:ln>
            <a:solidFill>
              <a:srgbClr val="8C5C32">
                <a:alpha val="50000"/>
              </a:srgb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457200" rtlCol="0" anchor="ctr"/>
          <a:lstStyle/>
          <a:p>
            <a:pPr marL="171450" indent="-171450">
              <a:buFont typeface="Arial" panose="020B0604020202020204" pitchFamily="34" charset="0"/>
              <a:buChar char="•"/>
            </a:pPr>
            <a:r>
              <a:rPr lang="en-US" sz="1000" dirty="0">
                <a:solidFill>
                  <a:srgbClr val="002060"/>
                </a:solidFill>
                <a:latin typeface="Inter" panose="02000503000000020004" pitchFamily="2" charset="0"/>
              </a:rPr>
              <a:t>Analyze readmission rates by age group, department, and month.</a:t>
            </a:r>
          </a:p>
          <a:p>
            <a:pPr marL="171450" indent="-171450">
              <a:buFont typeface="Arial" panose="020B0604020202020204" pitchFamily="34" charset="0"/>
              <a:buChar char="•"/>
            </a:pPr>
            <a:r>
              <a:rPr lang="en-US" sz="1000" dirty="0">
                <a:solidFill>
                  <a:srgbClr val="002060"/>
                </a:solidFill>
              </a:rPr>
              <a:t>Identify patient groups with a higher likelihood of readmission to support targeted interventions.</a:t>
            </a:r>
            <a:endParaRPr lang="en-US" sz="1000" dirty="0">
              <a:solidFill>
                <a:srgbClr val="002060"/>
              </a:solidFill>
              <a:latin typeface="Inter" panose="02000503000000020004" pitchFamily="2" charset="0"/>
            </a:endParaRPr>
          </a:p>
        </p:txBody>
      </p:sp>
      <p:sp>
        <p:nvSpPr>
          <p:cNvPr id="44" name="Callout: Line with Border and Accent Bar 43">
            <a:extLst>
              <a:ext uri="{FF2B5EF4-FFF2-40B4-BE49-F238E27FC236}">
                <a16:creationId xmlns:a16="http://schemas.microsoft.com/office/drawing/2014/main" id="{5178AF4A-5C42-4D7B-99E3-A74CFAC1D8D6}"/>
              </a:ext>
            </a:extLst>
          </p:cNvPr>
          <p:cNvSpPr>
            <a:spLocks noChangeAspect="1"/>
          </p:cNvSpPr>
          <p:nvPr/>
        </p:nvSpPr>
        <p:spPr>
          <a:xfrm>
            <a:off x="4953689" y="5455847"/>
            <a:ext cx="5212080" cy="729691"/>
          </a:xfrm>
          <a:prstGeom prst="accentBorderCallout1">
            <a:avLst>
              <a:gd name="adj1" fmla="val 79816"/>
              <a:gd name="adj2" fmla="val -10108"/>
              <a:gd name="adj3" fmla="val 112500"/>
              <a:gd name="adj4" fmla="val -38333"/>
            </a:avLst>
          </a:prstGeom>
          <a:solidFill>
            <a:srgbClr val="8C5C32">
              <a:alpha val="0"/>
            </a:srgbClr>
          </a:solidFill>
          <a:ln>
            <a:solidFill>
              <a:srgbClr val="8C5C32">
                <a:alpha val="50000"/>
              </a:srgb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457200" rtlCol="0" anchor="ctr" anchorCtr="0"/>
          <a:lstStyle/>
          <a:p>
            <a:pPr marL="171450" indent="-171450">
              <a:buFont typeface="Arial" panose="020B0604020202020204" pitchFamily="34" charset="0"/>
              <a:buChar char="•"/>
            </a:pPr>
            <a:r>
              <a:rPr lang="en-US" sz="1050" dirty="0">
                <a:solidFill>
                  <a:srgbClr val="002060"/>
                </a:solidFill>
                <a:latin typeface="Inter" panose="02000503000000020004" pitchFamily="2" charset="0"/>
              </a:rPr>
              <a:t>Analyze the distribution of patient outcomes, including Recovered, Improved, Referred, and Deceased.</a:t>
            </a:r>
          </a:p>
          <a:p>
            <a:pPr marL="171450" indent="-171450">
              <a:buFont typeface="Arial" panose="020B0604020202020204" pitchFamily="34" charset="0"/>
              <a:buChar char="•"/>
            </a:pPr>
            <a:r>
              <a:rPr lang="en-US" sz="1050" dirty="0">
                <a:solidFill>
                  <a:srgbClr val="002060"/>
                </a:solidFill>
              </a:rPr>
              <a:t>Evaluate how patient outcomes relate to treatment costs and length of stay to support quality improvement initiatives.</a:t>
            </a:r>
            <a:endParaRPr lang="en-US" sz="1050" dirty="0">
              <a:solidFill>
                <a:srgbClr val="002060"/>
              </a:solidFill>
              <a:latin typeface="Inter" panose="02000503000000020004" pitchFamily="2" charset="0"/>
            </a:endParaRPr>
          </a:p>
        </p:txBody>
      </p:sp>
      <p:sp>
        <p:nvSpPr>
          <p:cNvPr id="45" name="Callout: Line with Border and Accent Bar 44">
            <a:extLst>
              <a:ext uri="{FF2B5EF4-FFF2-40B4-BE49-F238E27FC236}">
                <a16:creationId xmlns:a16="http://schemas.microsoft.com/office/drawing/2014/main" id="{55C81359-CA45-48D8-8EEC-D9ED8E8DA1F0}"/>
              </a:ext>
            </a:extLst>
          </p:cNvPr>
          <p:cNvSpPr>
            <a:spLocks noChangeAspect="1"/>
          </p:cNvSpPr>
          <p:nvPr/>
        </p:nvSpPr>
        <p:spPr>
          <a:xfrm>
            <a:off x="4953689" y="4536916"/>
            <a:ext cx="5212080" cy="729691"/>
          </a:xfrm>
          <a:prstGeom prst="accentBorderCallout1">
            <a:avLst>
              <a:gd name="adj1" fmla="val 79816"/>
              <a:gd name="adj2" fmla="val -10108"/>
              <a:gd name="adj3" fmla="val 112500"/>
              <a:gd name="adj4" fmla="val -38333"/>
            </a:avLst>
          </a:prstGeom>
          <a:solidFill>
            <a:srgbClr val="8C5C32">
              <a:alpha val="0"/>
            </a:srgbClr>
          </a:solidFill>
          <a:ln>
            <a:solidFill>
              <a:srgbClr val="8C5C32">
                <a:alpha val="50000"/>
              </a:srgb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0" rIns="91440" bIns="457200" rtlCol="0" anchor="ctr"/>
          <a:lstStyle/>
          <a:p>
            <a:pPr marL="171450" indent="-171450">
              <a:buFont typeface="Arial" panose="020B0604020202020204" pitchFamily="34" charset="0"/>
              <a:buChar char="•"/>
            </a:pPr>
            <a:r>
              <a:rPr lang="en-US" sz="1000" dirty="0">
                <a:solidFill>
                  <a:srgbClr val="002060"/>
                </a:solidFill>
                <a:latin typeface="Inter" panose="02000503000000020004" pitchFamily="2" charset="0"/>
              </a:rPr>
              <a:t>Assess the average treatment cost across departments and patient outcomes.</a:t>
            </a:r>
          </a:p>
          <a:p>
            <a:pPr marL="171450" indent="-171450">
              <a:buFont typeface="Arial" panose="020B0604020202020204" pitchFamily="34" charset="0"/>
              <a:buChar char="•"/>
            </a:pPr>
            <a:r>
              <a:rPr lang="en-US" sz="1000" dirty="0">
                <a:solidFill>
                  <a:srgbClr val="002060"/>
                </a:solidFill>
              </a:rPr>
              <a:t>Identify high-cost departments and determine whether higher spending is associated with improved patient outcomes.</a:t>
            </a:r>
            <a:endParaRPr lang="en-US" sz="1000" dirty="0">
              <a:solidFill>
                <a:srgbClr val="002060"/>
              </a:solidFill>
              <a:latin typeface="Inter" panose="02000503000000020004" pitchFamily="2" charset="0"/>
            </a:endParaRPr>
          </a:p>
        </p:txBody>
      </p:sp>
      <p:sp>
        <p:nvSpPr>
          <p:cNvPr id="51" name="Rectangle: Diagonal Corners Snipped 50">
            <a:extLst>
              <a:ext uri="{FF2B5EF4-FFF2-40B4-BE49-F238E27FC236}">
                <a16:creationId xmlns:a16="http://schemas.microsoft.com/office/drawing/2014/main" id="{6FB5AA64-BDEB-4865-8ACA-5A7A9DF1EE94}"/>
              </a:ext>
            </a:extLst>
          </p:cNvPr>
          <p:cNvSpPr/>
          <p:nvPr/>
        </p:nvSpPr>
        <p:spPr>
          <a:xfrm>
            <a:off x="107369" y="1176734"/>
            <a:ext cx="10058400" cy="399475"/>
          </a:xfrm>
          <a:prstGeom prst="snip2Diag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rgbClr val="002060"/>
                </a:solidFill>
                <a:latin typeface="Inter" panose="02000503000000020004" pitchFamily="2" charset="0"/>
              </a:rPr>
              <a:t>This project analyzes hospital admission data using MySQL and Power BI to identify trends in patient admissions, readmissions, treatment costs, and patient outcomes. The dashboard provides actionable insights that support informed healthcare decision-making and improve hospital performance.</a:t>
            </a:r>
          </a:p>
        </p:txBody>
      </p:sp>
      <p:sp>
        <p:nvSpPr>
          <p:cNvPr id="53" name="Rectangle: Top Corners Snipped 52">
            <a:extLst>
              <a:ext uri="{FF2B5EF4-FFF2-40B4-BE49-F238E27FC236}">
                <a16:creationId xmlns:a16="http://schemas.microsoft.com/office/drawing/2014/main" id="{BD65D8D1-101C-40A2-BED6-BA27B41DB348}"/>
              </a:ext>
            </a:extLst>
          </p:cNvPr>
          <p:cNvSpPr/>
          <p:nvPr/>
        </p:nvSpPr>
        <p:spPr>
          <a:xfrm>
            <a:off x="107369" y="872945"/>
            <a:ext cx="2046391" cy="303789"/>
          </a:xfrm>
          <a:prstGeom prst="snip2Same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2060"/>
                </a:solidFill>
                <a:latin typeface="Inter" panose="02000503000000020004" pitchFamily="2" charset="0"/>
              </a:rPr>
              <a:t>Executive Summary</a:t>
            </a:r>
          </a:p>
        </p:txBody>
      </p:sp>
    </p:spTree>
    <p:extLst>
      <p:ext uri="{BB962C8B-B14F-4D97-AF65-F5344CB8AC3E}">
        <p14:creationId xmlns:p14="http://schemas.microsoft.com/office/powerpoint/2010/main" val="33679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C1C6F4-7939-42B4-A013-AF05CC70A558}"/>
              </a:ext>
            </a:extLst>
          </p:cNvPr>
          <p:cNvSpPr txBox="1">
            <a:spLocks/>
          </p:cNvSpPr>
          <p:nvPr/>
        </p:nvSpPr>
        <p:spPr>
          <a:xfrm>
            <a:off x="119302" y="111936"/>
            <a:ext cx="3833861" cy="677335"/>
          </a:xfrm>
          <a:prstGeom prst="rect">
            <a:avLst/>
          </a:prstGeom>
          <a:ln>
            <a:solidFill>
              <a:srgbClr val="8C5C32">
                <a:alpha val="50000"/>
              </a:srgb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tx1">
                    <a:lumMod val="95000"/>
                    <a:lumOff val="5000"/>
                  </a:schemeClr>
                </a:solidFill>
                <a:latin typeface="Arial Black" panose="020B0A04020102020204" pitchFamily="34" charset="0"/>
              </a:rPr>
              <a:t>Dataset Overview</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F2478929-159A-44F9-BF7D-48B654E956A1}"/>
              </a:ext>
            </a:extLst>
          </p:cNvPr>
          <p:cNvCxnSpPr>
            <a:cxnSpLocks/>
          </p:cNvCxnSpPr>
          <p:nvPr/>
        </p:nvCxnSpPr>
        <p:spPr>
          <a:xfrm>
            <a:off x="119300" y="196605"/>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6" name="Rectangle: Diagonal Corners Snipped 5">
            <a:extLst>
              <a:ext uri="{FF2B5EF4-FFF2-40B4-BE49-F238E27FC236}">
                <a16:creationId xmlns:a16="http://schemas.microsoft.com/office/drawing/2014/main" id="{BD7EE1B4-461F-4BAD-9331-403606C781BF}"/>
              </a:ext>
            </a:extLst>
          </p:cNvPr>
          <p:cNvSpPr/>
          <p:nvPr/>
        </p:nvSpPr>
        <p:spPr>
          <a:xfrm>
            <a:off x="282456" y="1387969"/>
            <a:ext cx="3484284" cy="715816"/>
          </a:xfrm>
          <a:prstGeom prst="snip2DiagRect">
            <a:avLst>
              <a:gd name="adj1" fmla="val 0"/>
              <a:gd name="adj2" fmla="val 16667"/>
            </a:avLst>
          </a:prstGeom>
          <a:solidFill>
            <a:srgbClr val="002060">
              <a:alpha val="50000"/>
            </a:srgb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numCol="1" rtlCol="0" anchor="t" anchorCtr="0"/>
          <a:lstStyle/>
          <a:p>
            <a:r>
              <a:rPr lang="en-US" sz="1050" dirty="0">
                <a:solidFill>
                  <a:srgbClr val="002060"/>
                </a:solidFill>
                <a:latin typeface="Inter" panose="02000503000000020004" pitchFamily="2" charset="0"/>
              </a:rPr>
              <a:t>The dataset contains records of patient admissions </a:t>
            </a:r>
          </a:p>
          <a:p>
            <a:r>
              <a:rPr lang="en-US" sz="1050" dirty="0">
                <a:solidFill>
                  <a:srgbClr val="002060"/>
                </a:solidFill>
                <a:latin typeface="Inter" panose="02000503000000020004" pitchFamily="2" charset="0"/>
              </a:rPr>
              <a:t>across eight hospital departments and includes </a:t>
            </a:r>
          </a:p>
          <a:p>
            <a:r>
              <a:rPr lang="en-US" sz="1050" dirty="0">
                <a:solidFill>
                  <a:srgbClr val="002060"/>
                </a:solidFill>
                <a:latin typeface="Inter" panose="02000503000000020004" pitchFamily="2" charset="0"/>
              </a:rPr>
              <a:t>demographic, treatment, and outcome information.</a:t>
            </a:r>
          </a:p>
        </p:txBody>
      </p:sp>
      <p:sp>
        <p:nvSpPr>
          <p:cNvPr id="8" name="Oval 7">
            <a:extLst>
              <a:ext uri="{FF2B5EF4-FFF2-40B4-BE49-F238E27FC236}">
                <a16:creationId xmlns:a16="http://schemas.microsoft.com/office/drawing/2014/main" id="{DDBDB290-4434-48F9-98AB-11C4550F7FCB}"/>
              </a:ext>
            </a:extLst>
          </p:cNvPr>
          <p:cNvSpPr/>
          <p:nvPr/>
        </p:nvSpPr>
        <p:spPr>
          <a:xfrm>
            <a:off x="564569" y="2692567"/>
            <a:ext cx="1005840" cy="274320"/>
          </a:xfrm>
          <a:prstGeom prst="ellipse">
            <a:avLst/>
          </a:prstGeom>
          <a:solidFill>
            <a:srgbClr val="F2E9D8"/>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en-US" sz="1200" b="1" dirty="0">
                <a:solidFill>
                  <a:srgbClr val="002060"/>
                </a:solidFill>
                <a:latin typeface="Inter" panose="02000503000000020004" pitchFamily="2" charset="0"/>
              </a:rPr>
              <a:t>1,000</a:t>
            </a:r>
            <a:r>
              <a:rPr lang="en-US" sz="1200" dirty="0">
                <a:solidFill>
                  <a:srgbClr val="002060">
                    <a:alpha val="50000"/>
                  </a:srgbClr>
                </a:solidFill>
                <a:latin typeface="Inter" panose="02000503000000020004" pitchFamily="2" charset="0"/>
              </a:rPr>
              <a:t> </a:t>
            </a:r>
          </a:p>
        </p:txBody>
      </p:sp>
      <p:sp>
        <p:nvSpPr>
          <p:cNvPr id="9" name="Rectangle: Diagonal Corners Snipped 8">
            <a:extLst>
              <a:ext uri="{FF2B5EF4-FFF2-40B4-BE49-F238E27FC236}">
                <a16:creationId xmlns:a16="http://schemas.microsoft.com/office/drawing/2014/main" id="{20AD1BCF-CD72-4A60-BF55-87763E49A2C8}"/>
              </a:ext>
            </a:extLst>
          </p:cNvPr>
          <p:cNvSpPr/>
          <p:nvPr/>
        </p:nvSpPr>
        <p:spPr>
          <a:xfrm>
            <a:off x="339663" y="2325940"/>
            <a:ext cx="1463040" cy="274320"/>
          </a:xfrm>
          <a:prstGeom prst="snip2Diag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200" b="1" dirty="0">
                <a:solidFill>
                  <a:srgbClr val="002060"/>
                </a:solidFill>
                <a:latin typeface="Inter" panose="02000503000000020004" pitchFamily="2" charset="0"/>
              </a:rPr>
              <a:t>Total Patients</a:t>
            </a:r>
          </a:p>
        </p:txBody>
      </p:sp>
      <p:sp>
        <p:nvSpPr>
          <p:cNvPr id="10" name="Rectangle: Diagonal Corners Snipped 9">
            <a:extLst>
              <a:ext uri="{FF2B5EF4-FFF2-40B4-BE49-F238E27FC236}">
                <a16:creationId xmlns:a16="http://schemas.microsoft.com/office/drawing/2014/main" id="{82E0B340-495A-4FBE-8FA4-9BBFBFD3FCFD}"/>
              </a:ext>
            </a:extLst>
          </p:cNvPr>
          <p:cNvSpPr/>
          <p:nvPr/>
        </p:nvSpPr>
        <p:spPr>
          <a:xfrm>
            <a:off x="1937553" y="2325940"/>
            <a:ext cx="1463040" cy="274320"/>
          </a:xfrm>
          <a:prstGeom prst="snip2DiagRect">
            <a:avLst/>
          </a:prstGeom>
          <a:solidFill>
            <a:schemeClr val="accent1">
              <a:alpha val="50000"/>
            </a:schemeClr>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200" b="1" dirty="0">
                <a:solidFill>
                  <a:srgbClr val="002060"/>
                </a:solidFill>
                <a:latin typeface="Inter" panose="02000503000000020004" pitchFamily="2" charset="0"/>
              </a:rPr>
              <a:t>Departments</a:t>
            </a:r>
          </a:p>
        </p:txBody>
      </p:sp>
      <p:sp>
        <p:nvSpPr>
          <p:cNvPr id="13" name="Rectangle: Diagonal Corners Snipped 12">
            <a:extLst>
              <a:ext uri="{FF2B5EF4-FFF2-40B4-BE49-F238E27FC236}">
                <a16:creationId xmlns:a16="http://schemas.microsoft.com/office/drawing/2014/main" id="{8B01F669-5B1C-4859-924E-4B60DE0D0D6C}"/>
              </a:ext>
            </a:extLst>
          </p:cNvPr>
          <p:cNvSpPr/>
          <p:nvPr/>
        </p:nvSpPr>
        <p:spPr>
          <a:xfrm>
            <a:off x="119300" y="5053564"/>
            <a:ext cx="2011680" cy="365760"/>
          </a:xfrm>
          <a:prstGeom prst="snip2DiagRect">
            <a:avLst/>
          </a:prstGeom>
          <a:solidFill>
            <a:schemeClr val="accent1">
              <a:alpha val="50000"/>
            </a:schemeClr>
          </a:solidFill>
          <a:ln w="12700">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b="1" dirty="0">
                <a:solidFill>
                  <a:srgbClr val="002060"/>
                </a:solidFill>
              </a:rPr>
              <a:t>Patient Outcomes</a:t>
            </a:r>
          </a:p>
        </p:txBody>
      </p:sp>
      <p:sp>
        <p:nvSpPr>
          <p:cNvPr id="14" name="Oval 13">
            <a:extLst>
              <a:ext uri="{FF2B5EF4-FFF2-40B4-BE49-F238E27FC236}">
                <a16:creationId xmlns:a16="http://schemas.microsoft.com/office/drawing/2014/main" id="{9D08D339-698B-4E86-B773-37D91CFB46F1}"/>
              </a:ext>
            </a:extLst>
          </p:cNvPr>
          <p:cNvSpPr/>
          <p:nvPr/>
        </p:nvSpPr>
        <p:spPr>
          <a:xfrm>
            <a:off x="2166153" y="2691700"/>
            <a:ext cx="1005840" cy="274320"/>
          </a:xfrm>
          <a:prstGeom prst="ellipse">
            <a:avLst/>
          </a:prstGeom>
          <a:solidFill>
            <a:srgbClr val="F2E9D8"/>
          </a:solidFill>
          <a:ln>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en-US" sz="1600" b="1" dirty="0">
                <a:solidFill>
                  <a:srgbClr val="002060"/>
                </a:solidFill>
                <a:latin typeface="Inter" panose="02000503000000020004" pitchFamily="2" charset="0"/>
              </a:rPr>
              <a:t>8</a:t>
            </a:r>
            <a:endParaRPr lang="en-US" sz="1600" dirty="0">
              <a:solidFill>
                <a:srgbClr val="002060"/>
              </a:solidFill>
              <a:latin typeface="Inter" panose="02000503000000020004" pitchFamily="2" charset="0"/>
            </a:endParaRPr>
          </a:p>
        </p:txBody>
      </p:sp>
      <p:sp>
        <p:nvSpPr>
          <p:cNvPr id="20" name="Rectangle: Diagonal Corners Snipped 19">
            <a:extLst>
              <a:ext uri="{FF2B5EF4-FFF2-40B4-BE49-F238E27FC236}">
                <a16:creationId xmlns:a16="http://schemas.microsoft.com/office/drawing/2014/main" id="{EAEB6A9D-45E1-4280-A3C6-7C1526AAC766}"/>
              </a:ext>
            </a:extLst>
          </p:cNvPr>
          <p:cNvSpPr/>
          <p:nvPr/>
        </p:nvSpPr>
        <p:spPr>
          <a:xfrm>
            <a:off x="119300" y="4029973"/>
            <a:ext cx="2011680" cy="365760"/>
          </a:xfrm>
          <a:prstGeom prst="snip2DiagRect">
            <a:avLst/>
          </a:prstGeom>
          <a:solidFill>
            <a:schemeClr val="accent1">
              <a:alpha val="50000"/>
            </a:schemeClr>
          </a:solidFill>
          <a:ln w="12700">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b="1" dirty="0">
                <a:solidFill>
                  <a:srgbClr val="002060"/>
                </a:solidFill>
              </a:rPr>
              <a:t>Age Groups:</a:t>
            </a:r>
          </a:p>
        </p:txBody>
      </p:sp>
      <p:sp>
        <p:nvSpPr>
          <p:cNvPr id="21" name="Callout: Bent Line with Border and Accent Bar 20">
            <a:extLst>
              <a:ext uri="{FF2B5EF4-FFF2-40B4-BE49-F238E27FC236}">
                <a16:creationId xmlns:a16="http://schemas.microsoft.com/office/drawing/2014/main" id="{ECE0A32C-D08E-400E-8421-F4F64C48E901}"/>
              </a:ext>
            </a:extLst>
          </p:cNvPr>
          <p:cNvSpPr/>
          <p:nvPr/>
        </p:nvSpPr>
        <p:spPr>
          <a:xfrm>
            <a:off x="1480740" y="5548506"/>
            <a:ext cx="2286000" cy="365760"/>
          </a:xfrm>
          <a:prstGeom prst="accentBorderCallout2">
            <a:avLst>
              <a:gd name="adj1" fmla="val 18750"/>
              <a:gd name="adj2" fmla="val -8333"/>
              <a:gd name="adj3" fmla="val 18750"/>
              <a:gd name="adj4" fmla="val -16667"/>
              <a:gd name="adj5" fmla="val -29527"/>
              <a:gd name="adj6" fmla="val -55726"/>
            </a:avLst>
          </a:prstGeom>
          <a:solidFill>
            <a:srgbClr val="F2E9D8">
              <a:alpha val="50000"/>
            </a:srgbClr>
          </a:solidFill>
          <a:ln w="12700">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lstStyle/>
          <a:p>
            <a:pPr lvl="1"/>
            <a:r>
              <a:rPr lang="en-US" sz="1000" dirty="0">
                <a:solidFill>
                  <a:srgbClr val="002060"/>
                </a:solidFill>
                <a:latin typeface="Inter" panose="02000503000000020004" pitchFamily="2" charset="0"/>
              </a:rPr>
              <a:t>Recovered | Improved </a:t>
            </a:r>
          </a:p>
          <a:p>
            <a:pPr lvl="1"/>
            <a:r>
              <a:rPr lang="en-US" sz="1000" dirty="0">
                <a:solidFill>
                  <a:srgbClr val="002060"/>
                </a:solidFill>
                <a:latin typeface="Inter" panose="02000503000000020004" pitchFamily="2" charset="0"/>
              </a:rPr>
              <a:t>Referred | Deceased </a:t>
            </a:r>
          </a:p>
          <a:p>
            <a:endParaRPr lang="en-US" sz="1000" dirty="0">
              <a:solidFill>
                <a:srgbClr val="002060"/>
              </a:solidFill>
              <a:latin typeface="Inter" panose="02000503000000020004" pitchFamily="2" charset="0"/>
            </a:endParaRPr>
          </a:p>
        </p:txBody>
      </p:sp>
      <p:sp>
        <p:nvSpPr>
          <p:cNvPr id="24" name="Callout: Bent Line with Border and Accent Bar 23">
            <a:extLst>
              <a:ext uri="{FF2B5EF4-FFF2-40B4-BE49-F238E27FC236}">
                <a16:creationId xmlns:a16="http://schemas.microsoft.com/office/drawing/2014/main" id="{B03084EF-7937-4AFA-8D8A-2C9A7118CF71}"/>
              </a:ext>
            </a:extLst>
          </p:cNvPr>
          <p:cNvSpPr/>
          <p:nvPr/>
        </p:nvSpPr>
        <p:spPr>
          <a:xfrm>
            <a:off x="1480741" y="4525039"/>
            <a:ext cx="2286000" cy="365760"/>
          </a:xfrm>
          <a:prstGeom prst="accentBorderCallout2">
            <a:avLst>
              <a:gd name="adj1" fmla="val 18750"/>
              <a:gd name="adj2" fmla="val -8333"/>
              <a:gd name="adj3" fmla="val 18750"/>
              <a:gd name="adj4" fmla="val -16667"/>
              <a:gd name="adj5" fmla="val -28576"/>
              <a:gd name="adj6" fmla="val -54175"/>
            </a:avLst>
          </a:prstGeom>
          <a:solidFill>
            <a:srgbClr val="F2E9D8">
              <a:alpha val="50000"/>
            </a:srgbClr>
          </a:solidFill>
          <a:ln w="12700">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lvl="1"/>
            <a:r>
              <a:rPr lang="en-US" sz="1100" dirty="0">
                <a:solidFill>
                  <a:srgbClr val="002060"/>
                </a:solidFill>
              </a:rPr>
              <a:t>0–18 | 19–40 | 41–60 | 61+ </a:t>
            </a:r>
          </a:p>
        </p:txBody>
      </p:sp>
      <p:sp>
        <p:nvSpPr>
          <p:cNvPr id="25" name="Rectangle: Diagonal Corners Snipped 24">
            <a:extLst>
              <a:ext uri="{FF2B5EF4-FFF2-40B4-BE49-F238E27FC236}">
                <a16:creationId xmlns:a16="http://schemas.microsoft.com/office/drawing/2014/main" id="{B864DA1B-0D1E-45B1-B239-87BB07429CAF}"/>
              </a:ext>
            </a:extLst>
          </p:cNvPr>
          <p:cNvSpPr/>
          <p:nvPr/>
        </p:nvSpPr>
        <p:spPr>
          <a:xfrm>
            <a:off x="122608" y="3057460"/>
            <a:ext cx="2011680" cy="365760"/>
          </a:xfrm>
          <a:prstGeom prst="snip2DiagRect">
            <a:avLst/>
          </a:prstGeom>
          <a:solidFill>
            <a:schemeClr val="accent1">
              <a:alpha val="50000"/>
            </a:schemeClr>
          </a:solidFill>
          <a:ln w="12700">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b="1" dirty="0">
                <a:solidFill>
                  <a:srgbClr val="002060"/>
                </a:solidFill>
              </a:rPr>
              <a:t>Months Covered</a:t>
            </a:r>
          </a:p>
        </p:txBody>
      </p:sp>
      <p:sp>
        <p:nvSpPr>
          <p:cNvPr id="26" name="Callout: Bent Line with Border and Accent Bar 25">
            <a:extLst>
              <a:ext uri="{FF2B5EF4-FFF2-40B4-BE49-F238E27FC236}">
                <a16:creationId xmlns:a16="http://schemas.microsoft.com/office/drawing/2014/main" id="{162EA6FE-3AD2-48AB-ADB9-340440997819}"/>
              </a:ext>
            </a:extLst>
          </p:cNvPr>
          <p:cNvSpPr/>
          <p:nvPr/>
        </p:nvSpPr>
        <p:spPr>
          <a:xfrm>
            <a:off x="1480741" y="3501446"/>
            <a:ext cx="2286000" cy="307777"/>
          </a:xfrm>
          <a:prstGeom prst="accentBorderCallout2">
            <a:avLst>
              <a:gd name="adj1" fmla="val 18750"/>
              <a:gd name="adj2" fmla="val -8333"/>
              <a:gd name="adj3" fmla="val 18750"/>
              <a:gd name="adj4" fmla="val -16667"/>
              <a:gd name="adj5" fmla="val -14120"/>
              <a:gd name="adj6" fmla="val -54314"/>
            </a:avLst>
          </a:prstGeom>
          <a:solidFill>
            <a:srgbClr val="F2E9D8">
              <a:alpha val="50000"/>
            </a:srgbClr>
          </a:solidFill>
          <a:ln w="12700">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lvl="1"/>
            <a:r>
              <a:rPr lang="en-US" sz="1400" dirty="0">
                <a:solidFill>
                  <a:srgbClr val="002060"/>
                </a:solidFill>
              </a:rPr>
              <a:t>January – December</a:t>
            </a:r>
          </a:p>
        </p:txBody>
      </p:sp>
      <p:pic>
        <p:nvPicPr>
          <p:cNvPr id="30" name="Picture 29">
            <a:extLst>
              <a:ext uri="{FF2B5EF4-FFF2-40B4-BE49-F238E27FC236}">
                <a16:creationId xmlns:a16="http://schemas.microsoft.com/office/drawing/2014/main" id="{FC535F5A-34C6-4BAE-9062-D7E6085A208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088013" y="111937"/>
            <a:ext cx="7384237" cy="5802330"/>
          </a:xfrm>
          <a:prstGeom prst="rect">
            <a:avLst/>
          </a:prstGeom>
          <a:effectLst>
            <a:outerShdw blurRad="101600" dist="38100" dir="5400000" algn="t" rotWithShape="0">
              <a:srgbClr val="8C5C32">
                <a:alpha val="40000"/>
              </a:srgbClr>
            </a:outerShdw>
          </a:effectLst>
        </p:spPr>
      </p:pic>
      <p:sp>
        <p:nvSpPr>
          <p:cNvPr id="32" name="Rectangle: Top Corners Snipped 31">
            <a:extLst>
              <a:ext uri="{FF2B5EF4-FFF2-40B4-BE49-F238E27FC236}">
                <a16:creationId xmlns:a16="http://schemas.microsoft.com/office/drawing/2014/main" id="{690F7467-A84A-4E66-AE52-B73FA1BDEB2B}"/>
              </a:ext>
            </a:extLst>
          </p:cNvPr>
          <p:cNvSpPr/>
          <p:nvPr/>
        </p:nvSpPr>
        <p:spPr>
          <a:xfrm>
            <a:off x="282456" y="1010022"/>
            <a:ext cx="2889537" cy="377947"/>
          </a:xfrm>
          <a:prstGeom prst="snip2SameRect">
            <a:avLst/>
          </a:prstGeom>
          <a:solidFill>
            <a:srgbClr val="00206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rgbClr val="002060"/>
                </a:solidFill>
                <a:latin typeface="Inter" panose="02000503000000020004" pitchFamily="2" charset="0"/>
              </a:rPr>
              <a:t>Hospital Admissions Data Set</a:t>
            </a:r>
          </a:p>
          <a:p>
            <a:pPr algn="ctr"/>
            <a:endParaRPr lang="en-US" sz="1400" dirty="0">
              <a:solidFill>
                <a:srgbClr val="002060"/>
              </a:solidFill>
            </a:endParaRPr>
          </a:p>
        </p:txBody>
      </p:sp>
    </p:spTree>
    <p:extLst>
      <p:ext uri="{BB962C8B-B14F-4D97-AF65-F5344CB8AC3E}">
        <p14:creationId xmlns:p14="http://schemas.microsoft.com/office/powerpoint/2010/main" val="3595269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203843E-0392-44D0-9C68-6691E90795EA}"/>
              </a:ext>
            </a:extLst>
          </p:cNvPr>
          <p:cNvSpPr txBox="1">
            <a:spLocks/>
          </p:cNvSpPr>
          <p:nvPr/>
        </p:nvSpPr>
        <p:spPr>
          <a:xfrm>
            <a:off x="315960" y="138439"/>
            <a:ext cx="3833861" cy="677335"/>
          </a:xfrm>
          <a:prstGeom prst="rect">
            <a:avLst/>
          </a:prstGeom>
          <a:ln>
            <a:solidFill>
              <a:srgbClr val="8C5C32">
                <a:alpha val="50000"/>
              </a:srgb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tx1">
                    <a:lumMod val="95000"/>
                    <a:lumOff val="5000"/>
                  </a:schemeClr>
                </a:solidFill>
                <a:latin typeface="Arial Black" panose="020B0A04020102020204" pitchFamily="34" charset="0"/>
              </a:rPr>
              <a:t>Data Preparation</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9DA417F7-D73D-4484-BB2D-61BAE34C9D0D}"/>
              </a:ext>
            </a:extLst>
          </p:cNvPr>
          <p:cNvCxnSpPr>
            <a:cxnSpLocks/>
          </p:cNvCxnSpPr>
          <p:nvPr/>
        </p:nvCxnSpPr>
        <p:spPr>
          <a:xfrm>
            <a:off x="336356" y="138439"/>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FC80243D-FA4D-4750-AE6C-4DAC604AC34D}"/>
              </a:ext>
            </a:extLst>
          </p:cNvPr>
          <p:cNvSpPr/>
          <p:nvPr/>
        </p:nvSpPr>
        <p:spPr>
          <a:xfrm>
            <a:off x="315960" y="1109903"/>
            <a:ext cx="3868105" cy="434109"/>
          </a:xfrm>
          <a:prstGeom prst="roundRect">
            <a:avLst/>
          </a:prstGeom>
          <a:solidFill>
            <a:schemeClr val="accent1">
              <a:alpha val="50000"/>
            </a:scheme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2060"/>
                </a:solidFill>
                <a:latin typeface="Inter" panose="02000503000000020004" pitchFamily="2" charset="0"/>
              </a:rPr>
              <a:t>Data Cleaning and Transformation</a:t>
            </a:r>
          </a:p>
        </p:txBody>
      </p:sp>
      <p:sp>
        <p:nvSpPr>
          <p:cNvPr id="10" name="Arrow: Right 9">
            <a:extLst>
              <a:ext uri="{FF2B5EF4-FFF2-40B4-BE49-F238E27FC236}">
                <a16:creationId xmlns:a16="http://schemas.microsoft.com/office/drawing/2014/main" id="{3E705381-5FE1-4368-BD9E-CCA1A97E9B91}"/>
              </a:ext>
            </a:extLst>
          </p:cNvPr>
          <p:cNvSpPr/>
          <p:nvPr/>
        </p:nvSpPr>
        <p:spPr>
          <a:xfrm>
            <a:off x="4405746" y="1099128"/>
            <a:ext cx="637309" cy="434109"/>
          </a:xfrm>
          <a:prstGeom prst="rightArrow">
            <a:avLst/>
          </a:prstGeom>
          <a:solidFill>
            <a:schemeClr val="accent1">
              <a:alpha val="50000"/>
            </a:scheme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002060"/>
              </a:solidFill>
              <a:latin typeface="Inter" panose="02000503000000020004" pitchFamily="2" charset="0"/>
            </a:endParaRPr>
          </a:p>
        </p:txBody>
      </p:sp>
      <p:sp>
        <p:nvSpPr>
          <p:cNvPr id="11" name="Rectangle: Rounded Corners 10">
            <a:extLst>
              <a:ext uri="{FF2B5EF4-FFF2-40B4-BE49-F238E27FC236}">
                <a16:creationId xmlns:a16="http://schemas.microsoft.com/office/drawing/2014/main" id="{AB24D815-A3F8-4A22-B27A-203CA8D213A9}"/>
              </a:ext>
            </a:extLst>
          </p:cNvPr>
          <p:cNvSpPr/>
          <p:nvPr/>
        </p:nvSpPr>
        <p:spPr>
          <a:xfrm>
            <a:off x="5227011" y="1109903"/>
            <a:ext cx="6697133" cy="434109"/>
          </a:xfrm>
          <a:prstGeom prst="roundRect">
            <a:avLst/>
          </a:prstGeom>
          <a:solidFill>
            <a:schemeClr val="accent1">
              <a:alpha val="50000"/>
            </a:scheme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2060"/>
                </a:solidFill>
                <a:latin typeface="Inter" panose="02000503000000020004" pitchFamily="2" charset="0"/>
              </a:rPr>
              <a:t>The following steps were completed before analysis</a:t>
            </a:r>
          </a:p>
        </p:txBody>
      </p:sp>
      <p:sp>
        <p:nvSpPr>
          <p:cNvPr id="12" name="Rectangle: Diagonal Corners Snipped 11">
            <a:extLst>
              <a:ext uri="{FF2B5EF4-FFF2-40B4-BE49-F238E27FC236}">
                <a16:creationId xmlns:a16="http://schemas.microsoft.com/office/drawing/2014/main" id="{D6D3547C-46CC-454A-BCEF-A509D4B46153}"/>
              </a:ext>
            </a:extLst>
          </p:cNvPr>
          <p:cNvSpPr/>
          <p:nvPr/>
        </p:nvSpPr>
        <p:spPr>
          <a:xfrm>
            <a:off x="7191693" y="1839498"/>
            <a:ext cx="4732451" cy="563418"/>
          </a:xfrm>
          <a:prstGeom prst="snip2DiagRect">
            <a:avLst/>
          </a:prstGeom>
          <a:solidFill>
            <a:srgbClr val="F2E9D8">
              <a:alpha val="50000"/>
            </a:srgb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a:r>
              <a:rPr lang="en-US" sz="1400" dirty="0">
                <a:solidFill>
                  <a:srgbClr val="002060"/>
                </a:solidFill>
                <a:latin typeface="Inter" panose="02000503000000020004" pitchFamily="2" charset="0"/>
              </a:rPr>
              <a:t>Imported CSV into Power BI </a:t>
            </a:r>
          </a:p>
          <a:p>
            <a:pPr algn="ctr"/>
            <a:endParaRPr lang="en-US" sz="1400" dirty="0">
              <a:solidFill>
                <a:srgbClr val="002060"/>
              </a:solidFill>
              <a:latin typeface="Inter" panose="02000503000000020004" pitchFamily="2" charset="0"/>
            </a:endParaRPr>
          </a:p>
        </p:txBody>
      </p:sp>
      <p:sp>
        <p:nvSpPr>
          <p:cNvPr id="13" name="Rectangle: Diagonal Corners Snipped 12">
            <a:extLst>
              <a:ext uri="{FF2B5EF4-FFF2-40B4-BE49-F238E27FC236}">
                <a16:creationId xmlns:a16="http://schemas.microsoft.com/office/drawing/2014/main" id="{D16E3484-C5FA-4D38-B064-9102A9BB08B2}"/>
              </a:ext>
            </a:extLst>
          </p:cNvPr>
          <p:cNvSpPr/>
          <p:nvPr/>
        </p:nvSpPr>
        <p:spPr>
          <a:xfrm>
            <a:off x="7191693" y="2576788"/>
            <a:ext cx="4732451" cy="563418"/>
          </a:xfrm>
          <a:prstGeom prst="snip2DiagRect">
            <a:avLst/>
          </a:prstGeom>
          <a:solidFill>
            <a:srgbClr val="F2E9D8">
              <a:alpha val="50000"/>
            </a:srgb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a:r>
              <a:rPr lang="en-US" sz="1400" dirty="0">
                <a:solidFill>
                  <a:srgbClr val="002060"/>
                </a:solidFill>
                <a:latin typeface="Inter" panose="02000503000000020004" pitchFamily="2" charset="0"/>
              </a:rPr>
              <a:t>Checked for missing values </a:t>
            </a:r>
          </a:p>
          <a:p>
            <a:pPr algn="ctr"/>
            <a:endParaRPr lang="en-US" sz="1400" dirty="0">
              <a:solidFill>
                <a:srgbClr val="002060"/>
              </a:solidFill>
              <a:latin typeface="Inter" panose="02000503000000020004" pitchFamily="2" charset="0"/>
            </a:endParaRPr>
          </a:p>
        </p:txBody>
      </p:sp>
      <p:sp>
        <p:nvSpPr>
          <p:cNvPr id="14" name="Rectangle: Diagonal Corners Snipped 13">
            <a:extLst>
              <a:ext uri="{FF2B5EF4-FFF2-40B4-BE49-F238E27FC236}">
                <a16:creationId xmlns:a16="http://schemas.microsoft.com/office/drawing/2014/main" id="{ECD62503-3F8B-43D5-AFEE-6EBB804516DA}"/>
              </a:ext>
            </a:extLst>
          </p:cNvPr>
          <p:cNvSpPr/>
          <p:nvPr/>
        </p:nvSpPr>
        <p:spPr>
          <a:xfrm>
            <a:off x="7192465" y="3314078"/>
            <a:ext cx="4731680" cy="563418"/>
          </a:xfrm>
          <a:prstGeom prst="snip2DiagRect">
            <a:avLst/>
          </a:prstGeom>
          <a:solidFill>
            <a:srgbClr val="F2E9D8">
              <a:alpha val="50000"/>
            </a:srgb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a:r>
              <a:rPr lang="en-US" sz="1400" dirty="0">
                <a:solidFill>
                  <a:srgbClr val="002060"/>
                </a:solidFill>
                <a:latin typeface="Inter" panose="02000503000000020004" pitchFamily="2" charset="0"/>
              </a:rPr>
              <a:t>Removed duplicates </a:t>
            </a:r>
          </a:p>
          <a:p>
            <a:pPr algn="ctr"/>
            <a:endParaRPr lang="en-US" sz="1400" dirty="0">
              <a:solidFill>
                <a:srgbClr val="002060"/>
              </a:solidFill>
              <a:latin typeface="Inter" panose="02000503000000020004" pitchFamily="2" charset="0"/>
            </a:endParaRPr>
          </a:p>
        </p:txBody>
      </p:sp>
      <p:sp>
        <p:nvSpPr>
          <p:cNvPr id="15" name="Rectangle: Diagonal Corners Snipped 14">
            <a:extLst>
              <a:ext uri="{FF2B5EF4-FFF2-40B4-BE49-F238E27FC236}">
                <a16:creationId xmlns:a16="http://schemas.microsoft.com/office/drawing/2014/main" id="{E72F6325-941A-450A-BE73-3B9C9560C597}"/>
              </a:ext>
            </a:extLst>
          </p:cNvPr>
          <p:cNvSpPr/>
          <p:nvPr/>
        </p:nvSpPr>
        <p:spPr>
          <a:xfrm>
            <a:off x="7192464" y="4051368"/>
            <a:ext cx="4731680" cy="563418"/>
          </a:xfrm>
          <a:prstGeom prst="snip2DiagRect">
            <a:avLst/>
          </a:prstGeom>
          <a:solidFill>
            <a:srgbClr val="F2E9D8">
              <a:alpha val="50000"/>
            </a:srgb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a:r>
              <a:rPr lang="en-US" sz="1400" dirty="0">
                <a:solidFill>
                  <a:srgbClr val="002060"/>
                </a:solidFill>
                <a:latin typeface="Inter" panose="02000503000000020004" pitchFamily="2" charset="0"/>
              </a:rPr>
              <a:t>Corrected data types </a:t>
            </a:r>
          </a:p>
          <a:p>
            <a:pPr algn="ctr"/>
            <a:endParaRPr lang="en-US" sz="1400" dirty="0">
              <a:solidFill>
                <a:srgbClr val="002060"/>
              </a:solidFill>
              <a:latin typeface="Inter" panose="02000503000000020004" pitchFamily="2" charset="0"/>
            </a:endParaRPr>
          </a:p>
        </p:txBody>
      </p:sp>
      <p:sp>
        <p:nvSpPr>
          <p:cNvPr id="16" name="Rectangle: Diagonal Corners Snipped 15">
            <a:extLst>
              <a:ext uri="{FF2B5EF4-FFF2-40B4-BE49-F238E27FC236}">
                <a16:creationId xmlns:a16="http://schemas.microsoft.com/office/drawing/2014/main" id="{2FA94641-870D-48DE-A062-AF658857EC29}"/>
              </a:ext>
            </a:extLst>
          </p:cNvPr>
          <p:cNvSpPr/>
          <p:nvPr/>
        </p:nvSpPr>
        <p:spPr>
          <a:xfrm>
            <a:off x="7192465" y="4788658"/>
            <a:ext cx="4731679" cy="563418"/>
          </a:xfrm>
          <a:prstGeom prst="snip2DiagRect">
            <a:avLst/>
          </a:prstGeom>
          <a:solidFill>
            <a:srgbClr val="F2E9D8">
              <a:alpha val="50000"/>
            </a:srgb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a:r>
              <a:rPr lang="en-US" sz="1400" dirty="0">
                <a:solidFill>
                  <a:srgbClr val="002060"/>
                </a:solidFill>
                <a:latin typeface="Inter" panose="02000503000000020004" pitchFamily="2" charset="0"/>
              </a:rPr>
              <a:t>Created Age Group column using Power Query </a:t>
            </a:r>
          </a:p>
          <a:p>
            <a:pPr algn="ctr"/>
            <a:endParaRPr lang="en-US" sz="1400" dirty="0">
              <a:solidFill>
                <a:srgbClr val="002060"/>
              </a:solidFill>
              <a:latin typeface="Inter" panose="02000503000000020004" pitchFamily="2" charset="0"/>
            </a:endParaRPr>
          </a:p>
        </p:txBody>
      </p:sp>
      <p:sp>
        <p:nvSpPr>
          <p:cNvPr id="17" name="Rectangle: Diagonal Corners Snipped 16">
            <a:extLst>
              <a:ext uri="{FF2B5EF4-FFF2-40B4-BE49-F238E27FC236}">
                <a16:creationId xmlns:a16="http://schemas.microsoft.com/office/drawing/2014/main" id="{7C6B2764-6AB1-4870-ACFE-0AE606012F79}"/>
              </a:ext>
            </a:extLst>
          </p:cNvPr>
          <p:cNvSpPr/>
          <p:nvPr/>
        </p:nvSpPr>
        <p:spPr>
          <a:xfrm>
            <a:off x="7192466" y="5525948"/>
            <a:ext cx="4732450" cy="563418"/>
          </a:xfrm>
          <a:prstGeom prst="snip2DiagRect">
            <a:avLst/>
          </a:prstGeom>
          <a:solidFill>
            <a:srgbClr val="F2E9D8">
              <a:alpha val="50000"/>
            </a:srgbClr>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chorCtr="0"/>
          <a:lstStyle/>
          <a:p>
            <a:pPr algn="ctr"/>
            <a:r>
              <a:rPr lang="en-US" sz="1400" dirty="0">
                <a:solidFill>
                  <a:srgbClr val="002060"/>
                </a:solidFill>
                <a:latin typeface="Inter" panose="02000503000000020004" pitchFamily="2" charset="0"/>
              </a:rPr>
              <a:t>Built DAX measures for KPI calculations</a:t>
            </a:r>
          </a:p>
          <a:p>
            <a:pPr algn="ctr"/>
            <a:endParaRPr lang="en-US" sz="1400" dirty="0">
              <a:solidFill>
                <a:srgbClr val="002060"/>
              </a:solidFill>
              <a:latin typeface="Inter" panose="02000503000000020004" pitchFamily="2" charset="0"/>
            </a:endParaRPr>
          </a:p>
        </p:txBody>
      </p:sp>
      <p:pic>
        <p:nvPicPr>
          <p:cNvPr id="21" name="Picture 20">
            <a:extLst>
              <a:ext uri="{FF2B5EF4-FFF2-40B4-BE49-F238E27FC236}">
                <a16:creationId xmlns:a16="http://schemas.microsoft.com/office/drawing/2014/main" id="{85DD7517-66D1-4D10-9B03-D27E418D80D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6356" y="1827366"/>
            <a:ext cx="6697132" cy="4262000"/>
          </a:xfrm>
          <a:prstGeom prst="rect">
            <a:avLst/>
          </a:prstGeom>
          <a:effectLst>
            <a:outerShdw blurRad="50800" dist="38100" dir="8100000" algn="tr" rotWithShape="0">
              <a:srgbClr val="8C5C32">
                <a:alpha val="40000"/>
              </a:srgbClr>
            </a:outerShdw>
          </a:effectLst>
        </p:spPr>
      </p:pic>
    </p:spTree>
    <p:extLst>
      <p:ext uri="{BB962C8B-B14F-4D97-AF65-F5344CB8AC3E}">
        <p14:creationId xmlns:p14="http://schemas.microsoft.com/office/powerpoint/2010/main" val="298838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187E7A-FDBA-4239-BD3B-C21A0B4A5D38}"/>
              </a:ext>
            </a:extLst>
          </p:cNvPr>
          <p:cNvSpPr>
            <a:spLocks noGrp="1"/>
          </p:cNvSpPr>
          <p:nvPr>
            <p:ph type="title"/>
          </p:nvPr>
        </p:nvSpPr>
        <p:spPr>
          <a:xfrm>
            <a:off x="174718" y="146625"/>
            <a:ext cx="3598333" cy="677335"/>
          </a:xfrm>
          <a:ln>
            <a:solidFill>
              <a:srgbClr val="8C5C32">
                <a:alpha val="50000"/>
              </a:srgbClr>
            </a:solidFill>
          </a:ln>
        </p:spPr>
        <p:txBody>
          <a:bodyPr>
            <a:noAutofit/>
          </a:bodyPr>
          <a:lstStyle/>
          <a:p>
            <a:pPr marL="0" indent="0"/>
            <a:r>
              <a:rPr lang="en-US" sz="2800" b="1" dirty="0">
                <a:solidFill>
                  <a:schemeClr val="tx1">
                    <a:lumMod val="95000"/>
                    <a:lumOff val="5000"/>
                  </a:schemeClr>
                </a:solidFill>
                <a:latin typeface="Arial Black" panose="020B0A04020102020204" pitchFamily="34" charset="0"/>
              </a:rPr>
              <a:t>DAX Measures</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7" name="Straight Connector 6">
            <a:extLst>
              <a:ext uri="{FF2B5EF4-FFF2-40B4-BE49-F238E27FC236}">
                <a16:creationId xmlns:a16="http://schemas.microsoft.com/office/drawing/2014/main" id="{A951C5D1-C584-4DA3-961B-3B88058FE186}"/>
              </a:ext>
            </a:extLst>
          </p:cNvPr>
          <p:cNvCxnSpPr>
            <a:cxnSpLocks/>
          </p:cNvCxnSpPr>
          <p:nvPr/>
        </p:nvCxnSpPr>
        <p:spPr>
          <a:xfrm>
            <a:off x="174718" y="235527"/>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4D5F24F3-F535-42BB-A29A-F0FB16718283}"/>
              </a:ext>
            </a:extLst>
          </p:cNvPr>
          <p:cNvSpPr/>
          <p:nvPr/>
        </p:nvSpPr>
        <p:spPr>
          <a:xfrm>
            <a:off x="2594645" y="2808173"/>
            <a:ext cx="4839854" cy="280928"/>
          </a:xfrm>
          <a:prstGeom prst="roundRect">
            <a:avLst/>
          </a:prstGeom>
          <a:solidFill>
            <a:srgbClr val="F2E9D8"/>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050" dirty="0">
                <a:solidFill>
                  <a:srgbClr val="002060"/>
                </a:solidFill>
                <a:latin typeface="Inter" panose="02000503000000020004" pitchFamily="2" charset="0"/>
              </a:rPr>
              <a:t>COUNTROWS(Hospital)</a:t>
            </a:r>
          </a:p>
        </p:txBody>
      </p:sp>
      <p:sp>
        <p:nvSpPr>
          <p:cNvPr id="12" name="Rectangle: Rounded Corners 11">
            <a:extLst>
              <a:ext uri="{FF2B5EF4-FFF2-40B4-BE49-F238E27FC236}">
                <a16:creationId xmlns:a16="http://schemas.microsoft.com/office/drawing/2014/main" id="{A8D2199F-40F7-4444-BCF5-9788D7812827}"/>
              </a:ext>
            </a:extLst>
          </p:cNvPr>
          <p:cNvSpPr/>
          <p:nvPr/>
        </p:nvSpPr>
        <p:spPr>
          <a:xfrm>
            <a:off x="2594645" y="3533106"/>
            <a:ext cx="4839854" cy="280928"/>
          </a:xfrm>
          <a:prstGeom prst="roundRect">
            <a:avLst/>
          </a:prstGeom>
          <a:solidFill>
            <a:srgbClr val="F2E9D8"/>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050" dirty="0">
                <a:solidFill>
                  <a:srgbClr val="002060"/>
                </a:solidFill>
                <a:latin typeface="Inter" panose="02000503000000020004" pitchFamily="2" charset="0"/>
              </a:rPr>
              <a:t>AVERAGE(Hospital[Length_of_Stay])</a:t>
            </a:r>
          </a:p>
        </p:txBody>
      </p:sp>
      <p:sp>
        <p:nvSpPr>
          <p:cNvPr id="13" name="Rectangle: Rounded Corners 12">
            <a:extLst>
              <a:ext uri="{FF2B5EF4-FFF2-40B4-BE49-F238E27FC236}">
                <a16:creationId xmlns:a16="http://schemas.microsoft.com/office/drawing/2014/main" id="{A9ED8908-FDCE-4FA6-B4CC-E2B57DDCBC50}"/>
              </a:ext>
            </a:extLst>
          </p:cNvPr>
          <p:cNvSpPr/>
          <p:nvPr/>
        </p:nvSpPr>
        <p:spPr>
          <a:xfrm>
            <a:off x="2594645" y="4230892"/>
            <a:ext cx="4839854" cy="280928"/>
          </a:xfrm>
          <a:prstGeom prst="roundRect">
            <a:avLst/>
          </a:prstGeom>
          <a:solidFill>
            <a:srgbClr val="F2E9D8"/>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050" dirty="0">
                <a:solidFill>
                  <a:srgbClr val="002060"/>
                </a:solidFill>
                <a:latin typeface="Inter" panose="02000503000000020004" pitchFamily="2" charset="0"/>
              </a:rPr>
              <a:t>AVERAGE(Hospital[Treatment_Cost])</a:t>
            </a:r>
          </a:p>
        </p:txBody>
      </p:sp>
      <p:sp>
        <p:nvSpPr>
          <p:cNvPr id="14" name="Rectangle: Rounded Corners 13">
            <a:extLst>
              <a:ext uri="{FF2B5EF4-FFF2-40B4-BE49-F238E27FC236}">
                <a16:creationId xmlns:a16="http://schemas.microsoft.com/office/drawing/2014/main" id="{6C73ACCB-94E2-4CAE-8E9A-8C8A655DDEB5}"/>
              </a:ext>
            </a:extLst>
          </p:cNvPr>
          <p:cNvSpPr/>
          <p:nvPr/>
        </p:nvSpPr>
        <p:spPr>
          <a:xfrm>
            <a:off x="2594645" y="4928678"/>
            <a:ext cx="4839854" cy="457200"/>
          </a:xfrm>
          <a:prstGeom prst="roundRect">
            <a:avLst/>
          </a:prstGeom>
          <a:solidFill>
            <a:srgbClr val="F2E9D8"/>
          </a:solidFill>
          <a:ln w="15875">
            <a:solidFill>
              <a:srgbClr val="8C5C32">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050" dirty="0">
                <a:solidFill>
                  <a:srgbClr val="002060"/>
                </a:solidFill>
                <a:latin typeface="Inter" panose="02000503000000020004" pitchFamily="2" charset="0"/>
              </a:rPr>
              <a:t>DIVIDE(CALCULATE(COUNTROWS(Hospital),Hospital[Readmitted_30_Days]="Yes"),COUNTROWS(Hospital))</a:t>
            </a:r>
          </a:p>
        </p:txBody>
      </p:sp>
      <p:sp>
        <p:nvSpPr>
          <p:cNvPr id="15" name="TextBox 14">
            <a:extLst>
              <a:ext uri="{FF2B5EF4-FFF2-40B4-BE49-F238E27FC236}">
                <a16:creationId xmlns:a16="http://schemas.microsoft.com/office/drawing/2014/main" id="{28EFD5EE-9309-4C09-8C30-A085ED3ECAE8}"/>
              </a:ext>
            </a:extLst>
          </p:cNvPr>
          <p:cNvSpPr txBox="1"/>
          <p:nvPr/>
        </p:nvSpPr>
        <p:spPr>
          <a:xfrm>
            <a:off x="174715" y="2821679"/>
            <a:ext cx="2226738" cy="253916"/>
          </a:xfrm>
          <a:prstGeom prst="rect">
            <a:avLst/>
          </a:prstGeom>
          <a:noFill/>
        </p:spPr>
        <p:txBody>
          <a:bodyPr wrap="square" rtlCol="0">
            <a:spAutoFit/>
          </a:bodyPr>
          <a:lstStyle/>
          <a:p>
            <a:r>
              <a:rPr lang="en-US" sz="1050" b="1" dirty="0">
                <a:solidFill>
                  <a:srgbClr val="002060"/>
                </a:solidFill>
                <a:latin typeface="Inter" panose="02000503000000020004" pitchFamily="2" charset="0"/>
              </a:rPr>
              <a:t>Total Patients =</a:t>
            </a:r>
          </a:p>
        </p:txBody>
      </p:sp>
      <p:sp>
        <p:nvSpPr>
          <p:cNvPr id="16" name="TextBox 15">
            <a:extLst>
              <a:ext uri="{FF2B5EF4-FFF2-40B4-BE49-F238E27FC236}">
                <a16:creationId xmlns:a16="http://schemas.microsoft.com/office/drawing/2014/main" id="{2A592EA4-1E2A-470F-8C21-F1E1AFD0E248}"/>
              </a:ext>
            </a:extLst>
          </p:cNvPr>
          <p:cNvSpPr txBox="1"/>
          <p:nvPr/>
        </p:nvSpPr>
        <p:spPr>
          <a:xfrm>
            <a:off x="174716" y="3546612"/>
            <a:ext cx="2226739" cy="253916"/>
          </a:xfrm>
          <a:prstGeom prst="rect">
            <a:avLst/>
          </a:prstGeom>
          <a:noFill/>
        </p:spPr>
        <p:txBody>
          <a:bodyPr wrap="square" rtlCol="0">
            <a:spAutoFit/>
          </a:bodyPr>
          <a:lstStyle/>
          <a:p>
            <a:r>
              <a:rPr lang="en-US" sz="1050" b="1" dirty="0">
                <a:solidFill>
                  <a:srgbClr val="002060"/>
                </a:solidFill>
                <a:latin typeface="Inter" panose="02000503000000020004" pitchFamily="2" charset="0"/>
              </a:rPr>
              <a:t>Average Length of Stay =</a:t>
            </a:r>
          </a:p>
        </p:txBody>
      </p:sp>
      <p:sp>
        <p:nvSpPr>
          <p:cNvPr id="17" name="TextBox 16">
            <a:extLst>
              <a:ext uri="{FF2B5EF4-FFF2-40B4-BE49-F238E27FC236}">
                <a16:creationId xmlns:a16="http://schemas.microsoft.com/office/drawing/2014/main" id="{01DA9B0C-C7D5-426A-95D1-517C2D6606FB}"/>
              </a:ext>
            </a:extLst>
          </p:cNvPr>
          <p:cNvSpPr txBox="1"/>
          <p:nvPr/>
        </p:nvSpPr>
        <p:spPr>
          <a:xfrm>
            <a:off x="174715" y="4244398"/>
            <a:ext cx="2226740" cy="253916"/>
          </a:xfrm>
          <a:prstGeom prst="rect">
            <a:avLst/>
          </a:prstGeom>
          <a:noFill/>
        </p:spPr>
        <p:txBody>
          <a:bodyPr wrap="square" rtlCol="0">
            <a:spAutoFit/>
          </a:bodyPr>
          <a:lstStyle/>
          <a:p>
            <a:r>
              <a:rPr lang="en-US" sz="1050" b="1" dirty="0">
                <a:solidFill>
                  <a:srgbClr val="002060"/>
                </a:solidFill>
                <a:latin typeface="Inter" panose="02000503000000020004" pitchFamily="2" charset="0"/>
              </a:rPr>
              <a:t>Average Treatment Cost =</a:t>
            </a:r>
          </a:p>
        </p:txBody>
      </p:sp>
      <p:sp>
        <p:nvSpPr>
          <p:cNvPr id="18" name="TextBox 17">
            <a:extLst>
              <a:ext uri="{FF2B5EF4-FFF2-40B4-BE49-F238E27FC236}">
                <a16:creationId xmlns:a16="http://schemas.microsoft.com/office/drawing/2014/main" id="{AE8AA0EA-C954-47CE-865D-8DE84E3C29BC}"/>
              </a:ext>
            </a:extLst>
          </p:cNvPr>
          <p:cNvSpPr txBox="1"/>
          <p:nvPr/>
        </p:nvSpPr>
        <p:spPr>
          <a:xfrm>
            <a:off x="174714" y="5030320"/>
            <a:ext cx="2419925" cy="253916"/>
          </a:xfrm>
          <a:prstGeom prst="rect">
            <a:avLst/>
          </a:prstGeom>
          <a:noFill/>
        </p:spPr>
        <p:txBody>
          <a:bodyPr wrap="square" rtlCol="0">
            <a:spAutoFit/>
          </a:bodyPr>
          <a:lstStyle/>
          <a:p>
            <a:r>
              <a:rPr lang="en-US" sz="1050" b="1" dirty="0">
                <a:solidFill>
                  <a:srgbClr val="002060"/>
                </a:solidFill>
                <a:latin typeface="Inter" panose="02000503000000020004" pitchFamily="2" charset="0"/>
              </a:rPr>
              <a:t>Overall 30-Day Treatment Rate =</a:t>
            </a:r>
          </a:p>
        </p:txBody>
      </p:sp>
      <p:sp>
        <p:nvSpPr>
          <p:cNvPr id="19" name="Callout: Double Bent Line with Border and Accent Bar 18">
            <a:extLst>
              <a:ext uri="{FF2B5EF4-FFF2-40B4-BE49-F238E27FC236}">
                <a16:creationId xmlns:a16="http://schemas.microsoft.com/office/drawing/2014/main" id="{52387196-1C60-4FF6-8036-A182C3AEF461}"/>
              </a:ext>
            </a:extLst>
          </p:cNvPr>
          <p:cNvSpPr/>
          <p:nvPr/>
        </p:nvSpPr>
        <p:spPr>
          <a:xfrm>
            <a:off x="2594644" y="1566219"/>
            <a:ext cx="4839855" cy="590959"/>
          </a:xfrm>
          <a:prstGeom prst="accentBorderCallout3">
            <a:avLst>
              <a:gd name="adj1" fmla="val 55184"/>
              <a:gd name="adj2" fmla="val -8934"/>
              <a:gd name="adj3" fmla="val 55375"/>
              <a:gd name="adj4" fmla="val -27526"/>
              <a:gd name="adj5" fmla="val 146790"/>
              <a:gd name="adj6" fmla="val -34583"/>
              <a:gd name="adj7" fmla="val 181758"/>
              <a:gd name="adj8" fmla="val -34643"/>
            </a:avLst>
          </a:prstGeom>
          <a:solidFill>
            <a:schemeClr val="accent1">
              <a:alpha val="50000"/>
            </a:scheme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Key Performance Indicators</a:t>
            </a:r>
          </a:p>
          <a:p>
            <a:pPr algn="ctr"/>
            <a:r>
              <a:rPr lang="en-US" sz="1200" b="1" dirty="0">
                <a:solidFill>
                  <a:srgbClr val="002060"/>
                </a:solidFill>
                <a:latin typeface="Inter" panose="02000503000000020004" pitchFamily="2" charset="0"/>
              </a:rPr>
              <a:t>The following DAX measures were created</a:t>
            </a:r>
          </a:p>
        </p:txBody>
      </p:sp>
    </p:spTree>
    <p:extLst>
      <p:ext uri="{BB962C8B-B14F-4D97-AF65-F5344CB8AC3E}">
        <p14:creationId xmlns:p14="http://schemas.microsoft.com/office/powerpoint/2010/main" val="4192431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4E5E9326-6EFD-4C70-AAF7-28937982B8CB}"/>
              </a:ext>
            </a:extLst>
          </p:cNvPr>
          <p:cNvSpPr>
            <a:spLocks noGrp="1"/>
          </p:cNvSpPr>
          <p:nvPr>
            <p:ph type="title"/>
          </p:nvPr>
        </p:nvSpPr>
        <p:spPr>
          <a:xfrm>
            <a:off x="82356" y="76967"/>
            <a:ext cx="6281497" cy="668869"/>
          </a:xfrm>
          <a:ln>
            <a:solidFill>
              <a:srgbClr val="8C5C32"/>
            </a:solidFill>
          </a:ln>
        </p:spPr>
        <p:txBody>
          <a:bodyPr>
            <a:noAutofit/>
          </a:bodyPr>
          <a:lstStyle/>
          <a:p>
            <a:pPr marL="0" indent="0"/>
            <a:r>
              <a:rPr lang="en-US" sz="2800" b="1" dirty="0">
                <a:solidFill>
                  <a:schemeClr val="tx1">
                    <a:lumMod val="95000"/>
                    <a:lumOff val="5000"/>
                  </a:schemeClr>
                </a:solidFill>
                <a:latin typeface="Arial Black" panose="020B0A04020102020204" pitchFamily="34" charset="0"/>
              </a:rPr>
              <a:t>Hospital Overview Dashboard </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17" name="Straight Connector 16">
            <a:extLst>
              <a:ext uri="{FF2B5EF4-FFF2-40B4-BE49-F238E27FC236}">
                <a16:creationId xmlns:a16="http://schemas.microsoft.com/office/drawing/2014/main" id="{F097B505-FE3F-403D-9E4B-D119F45AC5CB}"/>
              </a:ext>
            </a:extLst>
          </p:cNvPr>
          <p:cNvCxnSpPr>
            <a:cxnSpLocks/>
          </p:cNvCxnSpPr>
          <p:nvPr/>
        </p:nvCxnSpPr>
        <p:spPr>
          <a:xfrm>
            <a:off x="82355" y="161636"/>
            <a:ext cx="0" cy="499533"/>
          </a:xfrm>
          <a:prstGeom prst="line">
            <a:avLst/>
          </a:prstGeom>
          <a:ln w="38100">
            <a:solidFill>
              <a:srgbClr val="8C5C32"/>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F7C16A87-4C93-4E04-88C1-415D11091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684" y="830505"/>
            <a:ext cx="7666954" cy="5163895"/>
          </a:xfrm>
          <a:prstGeom prst="rect">
            <a:avLst/>
          </a:prstGeom>
          <a:noFill/>
          <a:ln>
            <a:solidFill>
              <a:srgbClr val="8C5C32"/>
            </a:solidFill>
          </a:ln>
        </p:spPr>
      </p:pic>
      <p:sp>
        <p:nvSpPr>
          <p:cNvPr id="20" name="Rectangle: Diagonal Corners Snipped 19">
            <a:extLst>
              <a:ext uri="{FF2B5EF4-FFF2-40B4-BE49-F238E27FC236}">
                <a16:creationId xmlns:a16="http://schemas.microsoft.com/office/drawing/2014/main" id="{A6532826-A505-4ED1-86CA-7F14C15443CB}"/>
              </a:ext>
            </a:extLst>
          </p:cNvPr>
          <p:cNvSpPr/>
          <p:nvPr/>
        </p:nvSpPr>
        <p:spPr>
          <a:xfrm>
            <a:off x="82362" y="2383756"/>
            <a:ext cx="4110945" cy="1634835"/>
          </a:xfrm>
          <a:prstGeom prst="snip2DiagRect">
            <a:avLst/>
          </a:prstGeom>
          <a:solidFill>
            <a:srgbClr val="F2E9D8">
              <a:alpha val="50000"/>
            </a:srgb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t>
            </a:r>
            <a:r>
              <a:rPr lang="en-US" sz="1200" b="1" dirty="0">
                <a:solidFill>
                  <a:srgbClr val="002060"/>
                </a:solidFill>
                <a:latin typeface="Inter" panose="02000503000000020004" pitchFamily="2" charset="0"/>
              </a:rPr>
              <a:t>Dashboard Components</a:t>
            </a:r>
          </a:p>
          <a:p>
            <a:endParaRPr lang="en-US" sz="1050" dirty="0">
              <a:solidFill>
                <a:srgbClr val="002060"/>
              </a:solidFill>
              <a:latin typeface="Inter" panose="02000503000000020004" pitchFamily="2" charset="0"/>
            </a:endParaRPr>
          </a:p>
          <a:p>
            <a:r>
              <a:rPr lang="en-US" sz="1050" dirty="0"/>
              <a:t>📈</a:t>
            </a:r>
            <a:r>
              <a:rPr lang="en-US" sz="1050" b="1" dirty="0">
                <a:solidFill>
                  <a:srgbClr val="002060"/>
                </a:solidFill>
                <a:latin typeface="Inter" panose="02000503000000020004" pitchFamily="2" charset="0"/>
              </a:rPr>
              <a:t>KPI Cards: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Total Patients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Average Length of Stay</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Average Treatment Cost</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30-Day Readmission Rate</a:t>
            </a:r>
          </a:p>
          <a:p>
            <a:r>
              <a:rPr lang="en-US" sz="1050" dirty="0">
                <a:solidFill>
                  <a:srgbClr val="002060"/>
                </a:solidFill>
                <a:latin typeface="Inter" panose="02000503000000020004" pitchFamily="2" charset="0"/>
              </a:rPr>
              <a:t>Patients by Department (Bar Chart)</a:t>
            </a:r>
          </a:p>
          <a:p>
            <a:r>
              <a:rPr lang="en-US" sz="1050" dirty="0">
                <a:solidFill>
                  <a:srgbClr val="002060"/>
                </a:solidFill>
                <a:latin typeface="Inter" panose="02000503000000020004" pitchFamily="2" charset="0"/>
              </a:rPr>
              <a:t>Interactive Slicers (Department and Discharge Month)</a:t>
            </a:r>
          </a:p>
        </p:txBody>
      </p:sp>
      <p:sp>
        <p:nvSpPr>
          <p:cNvPr id="21" name="Rectangle: Diagonal Corners Snipped 20">
            <a:extLst>
              <a:ext uri="{FF2B5EF4-FFF2-40B4-BE49-F238E27FC236}">
                <a16:creationId xmlns:a16="http://schemas.microsoft.com/office/drawing/2014/main" id="{1B40980D-1CF4-44E1-A1AC-B784AD99C6AE}"/>
              </a:ext>
            </a:extLst>
          </p:cNvPr>
          <p:cNvSpPr/>
          <p:nvPr/>
        </p:nvSpPr>
        <p:spPr>
          <a:xfrm>
            <a:off x="82355" y="4103258"/>
            <a:ext cx="4110952" cy="1521691"/>
          </a:xfrm>
          <a:prstGeom prst="snip2DiagRect">
            <a:avLst>
              <a:gd name="adj1" fmla="val 651"/>
              <a:gd name="adj2" fmla="val 16667"/>
            </a:avLst>
          </a:prstGeom>
          <a:solidFill>
            <a:srgbClr val="F2E9D8">
              <a:alpha val="50000"/>
            </a:srgb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rgbClr val="002060"/>
                </a:solidFill>
                <a:latin typeface="Inter" panose="02000503000000020004" pitchFamily="2" charset="0"/>
              </a:rPr>
              <a:t>Key Findings</a:t>
            </a:r>
          </a:p>
          <a:p>
            <a:pPr algn="ctr"/>
            <a:endParaRPr lang="en-US" sz="1050" dirty="0">
              <a:solidFill>
                <a:srgbClr val="002060"/>
              </a:solidFill>
              <a:latin typeface="Inter" panose="02000503000000020004" pitchFamily="2" charset="0"/>
            </a:endParaRPr>
          </a:p>
          <a:p>
            <a:pPr marL="171450" indent="-171450">
              <a:buFont typeface="Arial" panose="020B0604020202020204" pitchFamily="34" charset="0"/>
              <a:buChar char="•"/>
            </a:pPr>
            <a:r>
              <a:rPr lang="en-US" sz="1050" dirty="0">
                <a:solidFill>
                  <a:srgbClr val="002060"/>
                </a:solidFill>
                <a:latin typeface="Inter" panose="02000503000000020004" pitchFamily="2" charset="0"/>
              </a:rPr>
              <a:t>The hospital recorded 1,000 total patient admissions.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The average length of stay was 7.46 days.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The average treatment cost was approximately 330.28K.</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The overall 30-day readmission rate was 21%.</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The Emergency Department recorded the highest number of patient admissions.</a:t>
            </a:r>
          </a:p>
        </p:txBody>
      </p:sp>
      <p:sp>
        <p:nvSpPr>
          <p:cNvPr id="22" name="Rectangle: Diagonal Corners Snipped 21">
            <a:extLst>
              <a:ext uri="{FF2B5EF4-FFF2-40B4-BE49-F238E27FC236}">
                <a16:creationId xmlns:a16="http://schemas.microsoft.com/office/drawing/2014/main" id="{BC44862C-4171-413A-86BA-9D0694565A76}"/>
              </a:ext>
            </a:extLst>
          </p:cNvPr>
          <p:cNvSpPr/>
          <p:nvPr/>
        </p:nvSpPr>
        <p:spPr>
          <a:xfrm>
            <a:off x="82355" y="5709616"/>
            <a:ext cx="4110952" cy="1071417"/>
          </a:xfrm>
          <a:prstGeom prst="snip2DiagRect">
            <a:avLst/>
          </a:prstGeom>
          <a:solidFill>
            <a:srgbClr val="F2E9D8">
              <a:alpha val="50000"/>
            </a:srgb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rgbClr val="002060"/>
                </a:solidFill>
                <a:latin typeface="Inter" panose="02000503000000020004" pitchFamily="2" charset="0"/>
              </a:rPr>
              <a:t>Purpose of This Dashboard</a:t>
            </a:r>
          </a:p>
          <a:p>
            <a:pPr algn="ctr"/>
            <a:endParaRPr lang="en-US" sz="1050" dirty="0">
              <a:solidFill>
                <a:srgbClr val="002060"/>
              </a:solidFill>
              <a:latin typeface="Inter" panose="02000503000000020004" pitchFamily="2" charset="0"/>
            </a:endParaRPr>
          </a:p>
          <a:p>
            <a:pPr algn="ctr"/>
            <a:r>
              <a:rPr lang="en-US" sz="1050" dirty="0">
                <a:solidFill>
                  <a:srgbClr val="002060"/>
                </a:solidFill>
                <a:latin typeface="Inter" panose="02000503000000020004" pitchFamily="2" charset="0"/>
              </a:rPr>
              <a:t>This dashboard provides a high-level overview of hospital performance by summarizing key metrics and enabling users to filter data by department and discharge month for further analysis.</a:t>
            </a:r>
          </a:p>
        </p:txBody>
      </p:sp>
      <p:sp>
        <p:nvSpPr>
          <p:cNvPr id="25" name="Callout: Line 24">
            <a:extLst>
              <a:ext uri="{FF2B5EF4-FFF2-40B4-BE49-F238E27FC236}">
                <a16:creationId xmlns:a16="http://schemas.microsoft.com/office/drawing/2014/main" id="{2B8BB628-E990-45CA-A5DC-ECCEB2574950}"/>
              </a:ext>
            </a:extLst>
          </p:cNvPr>
          <p:cNvSpPr/>
          <p:nvPr/>
        </p:nvSpPr>
        <p:spPr>
          <a:xfrm>
            <a:off x="5061526" y="6402342"/>
            <a:ext cx="7048119" cy="378691"/>
          </a:xfrm>
          <a:prstGeom prst="borderCallout1">
            <a:avLst>
              <a:gd name="adj1" fmla="val -88567"/>
              <a:gd name="adj2" fmla="val 21808"/>
              <a:gd name="adj3" fmla="val -89940"/>
              <a:gd name="adj4" fmla="val -198"/>
            </a:avLst>
          </a:prstGeom>
          <a:solidFill>
            <a:srgbClr val="F2E9D8">
              <a:alpha val="50000"/>
            </a:srgb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2060"/>
                </a:solidFill>
                <a:latin typeface="Inter" panose="02000503000000020004" pitchFamily="2" charset="0"/>
              </a:rPr>
              <a:t>Emergency recorded the highest number of patient admissions, while Oncology had the lowest.</a:t>
            </a:r>
          </a:p>
        </p:txBody>
      </p:sp>
      <p:sp>
        <p:nvSpPr>
          <p:cNvPr id="26" name="Rectangle: Diagonal Corners Snipped 25">
            <a:extLst>
              <a:ext uri="{FF2B5EF4-FFF2-40B4-BE49-F238E27FC236}">
                <a16:creationId xmlns:a16="http://schemas.microsoft.com/office/drawing/2014/main" id="{7E10A2A0-9CAD-42C1-8266-C457F6BB4916}"/>
              </a:ext>
            </a:extLst>
          </p:cNvPr>
          <p:cNvSpPr/>
          <p:nvPr/>
        </p:nvSpPr>
        <p:spPr>
          <a:xfrm>
            <a:off x="5061526" y="6074450"/>
            <a:ext cx="952118" cy="327892"/>
          </a:xfrm>
          <a:prstGeom prst="snip2DiagRect">
            <a:avLst/>
          </a:prstGeom>
          <a:solidFill>
            <a:schemeClr val="accent1">
              <a:alpha val="50000"/>
            </a:scheme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2060"/>
                </a:solidFill>
                <a:latin typeface="Inter" panose="02000503000000020004" pitchFamily="2" charset="0"/>
              </a:rPr>
              <a:t>Insight</a:t>
            </a:r>
          </a:p>
        </p:txBody>
      </p:sp>
      <p:sp>
        <p:nvSpPr>
          <p:cNvPr id="27" name="Rectangle: Rounded Corners 26">
            <a:extLst>
              <a:ext uri="{FF2B5EF4-FFF2-40B4-BE49-F238E27FC236}">
                <a16:creationId xmlns:a16="http://schemas.microsoft.com/office/drawing/2014/main" id="{A3240368-0DFB-4369-8F1B-5D4887E7802A}"/>
              </a:ext>
            </a:extLst>
          </p:cNvPr>
          <p:cNvSpPr/>
          <p:nvPr/>
        </p:nvSpPr>
        <p:spPr>
          <a:xfrm>
            <a:off x="82355" y="1191491"/>
            <a:ext cx="4110942" cy="1107598"/>
          </a:xfrm>
          <a:prstGeom prst="roundRect">
            <a:avLst/>
          </a:prstGeom>
          <a:solidFill>
            <a:schemeClr val="accent1">
              <a:alpha val="50000"/>
            </a:scheme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rgbClr val="002060"/>
                </a:solidFill>
                <a:latin typeface="Inter" panose="02000503000000020004" pitchFamily="2" charset="0"/>
              </a:rPr>
              <a:t>This page provides a summary of the hospital's overall performance. The KPI cards display the total number of patients, average length of stay, treatment cost, and readmission rate. The bar chart compares admissions across departments, while the slicers allow users to filter the dashboard by department or discharge month.</a:t>
            </a:r>
          </a:p>
        </p:txBody>
      </p:sp>
      <p:sp>
        <p:nvSpPr>
          <p:cNvPr id="28" name="Rectangle: Top Corners Snipped 27">
            <a:extLst>
              <a:ext uri="{FF2B5EF4-FFF2-40B4-BE49-F238E27FC236}">
                <a16:creationId xmlns:a16="http://schemas.microsoft.com/office/drawing/2014/main" id="{D2DF17A6-6D9A-4278-AA2E-BB1339B45506}"/>
              </a:ext>
            </a:extLst>
          </p:cNvPr>
          <p:cNvSpPr/>
          <p:nvPr/>
        </p:nvSpPr>
        <p:spPr>
          <a:xfrm>
            <a:off x="1320022" y="905164"/>
            <a:ext cx="1635607" cy="286327"/>
          </a:xfrm>
          <a:prstGeom prst="snip2SameRect">
            <a:avLst/>
          </a:prstGeom>
          <a:solidFill>
            <a:schemeClr val="accent1">
              <a:alpha val="50000"/>
            </a:schemeClr>
          </a:solidFill>
          <a:ln>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Hospital Overview</a:t>
            </a:r>
          </a:p>
        </p:txBody>
      </p:sp>
    </p:spTree>
    <p:extLst>
      <p:ext uri="{BB962C8B-B14F-4D97-AF65-F5344CB8AC3E}">
        <p14:creationId xmlns:p14="http://schemas.microsoft.com/office/powerpoint/2010/main" val="285439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13192F-F245-48FA-B64F-7A5B7C91D127}"/>
              </a:ext>
            </a:extLst>
          </p:cNvPr>
          <p:cNvSpPr>
            <a:spLocks noGrp="1"/>
          </p:cNvSpPr>
          <p:nvPr>
            <p:ph type="title"/>
          </p:nvPr>
        </p:nvSpPr>
        <p:spPr>
          <a:xfrm>
            <a:off x="193193" y="150858"/>
            <a:ext cx="7001930" cy="677335"/>
          </a:xfrm>
          <a:ln>
            <a:solidFill>
              <a:srgbClr val="8C5C32">
                <a:alpha val="50000"/>
              </a:srgbClr>
            </a:solidFill>
          </a:ln>
        </p:spPr>
        <p:txBody>
          <a:bodyPr>
            <a:noAutofit/>
          </a:bodyPr>
          <a:lstStyle/>
          <a:p>
            <a:pPr marL="0" indent="0"/>
            <a:r>
              <a:rPr lang="en-US" sz="2800" b="1" dirty="0">
                <a:solidFill>
                  <a:schemeClr val="tx1">
                    <a:lumMod val="95000"/>
                    <a:lumOff val="5000"/>
                  </a:schemeClr>
                </a:solidFill>
                <a:latin typeface="Arial Black" panose="020B0A04020102020204" pitchFamily="34" charset="0"/>
              </a:rPr>
              <a:t>Readmission Analysis Dashboard</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7D64613F-8F25-438A-A5EF-6D64845876A2}"/>
              </a:ext>
            </a:extLst>
          </p:cNvPr>
          <p:cNvCxnSpPr>
            <a:cxnSpLocks/>
          </p:cNvCxnSpPr>
          <p:nvPr/>
        </p:nvCxnSpPr>
        <p:spPr>
          <a:xfrm>
            <a:off x="193191" y="235527"/>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8" name="Callout: Bent Line with Border and Accent Bar 7">
            <a:extLst>
              <a:ext uri="{FF2B5EF4-FFF2-40B4-BE49-F238E27FC236}">
                <a16:creationId xmlns:a16="http://schemas.microsoft.com/office/drawing/2014/main" id="{1350719F-8455-4D95-B9D7-6002BFD6A9D4}"/>
              </a:ext>
            </a:extLst>
          </p:cNvPr>
          <p:cNvSpPr/>
          <p:nvPr/>
        </p:nvSpPr>
        <p:spPr>
          <a:xfrm>
            <a:off x="9245599" y="2065866"/>
            <a:ext cx="2753207" cy="1062181"/>
          </a:xfrm>
          <a:prstGeom prst="accentBorderCallout2">
            <a:avLst>
              <a:gd name="adj1" fmla="val 18750"/>
              <a:gd name="adj2" fmla="val -8333"/>
              <a:gd name="adj3" fmla="val 18750"/>
              <a:gd name="adj4" fmla="val -16667"/>
              <a:gd name="adj5" fmla="val 101196"/>
              <a:gd name="adj6" fmla="val -31979"/>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Dashboard Includes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Monthly Readmission Trend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Readmission Rate by Department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Readmission Rate by Age Group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Department Performance Table</a:t>
            </a:r>
          </a:p>
        </p:txBody>
      </p:sp>
      <p:sp>
        <p:nvSpPr>
          <p:cNvPr id="9" name="Callout: Bent Line with Border and Accent Bar 8">
            <a:extLst>
              <a:ext uri="{FF2B5EF4-FFF2-40B4-BE49-F238E27FC236}">
                <a16:creationId xmlns:a16="http://schemas.microsoft.com/office/drawing/2014/main" id="{7BF2769B-1EDA-4269-AF81-A14C77BE87D0}"/>
              </a:ext>
            </a:extLst>
          </p:cNvPr>
          <p:cNvSpPr/>
          <p:nvPr/>
        </p:nvSpPr>
        <p:spPr>
          <a:xfrm>
            <a:off x="9245599" y="4304146"/>
            <a:ext cx="2753208" cy="1433946"/>
          </a:xfrm>
          <a:prstGeom prst="accentBorderCallout2">
            <a:avLst>
              <a:gd name="adj1" fmla="val 18750"/>
              <a:gd name="adj2" fmla="val -8333"/>
              <a:gd name="adj3" fmla="val 18750"/>
              <a:gd name="adj4" fmla="val -16667"/>
              <a:gd name="adj5" fmla="val 94239"/>
              <a:gd name="adj6" fmla="val -32237"/>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Key Insights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October recorded the highest readmission rate.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Cardiology had the highest readmission rate (28%).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Patients aged 61+ experienced the highest readmission rate.</a:t>
            </a:r>
          </a:p>
        </p:txBody>
      </p:sp>
      <p:pic>
        <p:nvPicPr>
          <p:cNvPr id="11" name="Picture 10">
            <a:extLst>
              <a:ext uri="{FF2B5EF4-FFF2-40B4-BE49-F238E27FC236}">
                <a16:creationId xmlns:a16="http://schemas.microsoft.com/office/drawing/2014/main" id="{AD9F4876-36D4-443D-B5DA-F1E71CA300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90" y="1128391"/>
            <a:ext cx="8110299" cy="5543372"/>
          </a:xfrm>
          <a:prstGeom prst="rect">
            <a:avLst/>
          </a:prstGeom>
        </p:spPr>
      </p:pic>
    </p:spTree>
    <p:extLst>
      <p:ext uri="{BB962C8B-B14F-4D97-AF65-F5344CB8AC3E}">
        <p14:creationId xmlns:p14="http://schemas.microsoft.com/office/powerpoint/2010/main" val="2961042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BFC5F4-03B6-42E9-A3BE-311F44C78A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78" y="1154546"/>
            <a:ext cx="8801486" cy="5171244"/>
          </a:xfrm>
          <a:prstGeom prst="rect">
            <a:avLst/>
          </a:prstGeom>
          <a:ln>
            <a:solidFill>
              <a:srgbClr val="8C5C32"/>
            </a:solidFill>
          </a:ln>
        </p:spPr>
      </p:pic>
      <p:sp>
        <p:nvSpPr>
          <p:cNvPr id="6" name="Title 1">
            <a:extLst>
              <a:ext uri="{FF2B5EF4-FFF2-40B4-BE49-F238E27FC236}">
                <a16:creationId xmlns:a16="http://schemas.microsoft.com/office/drawing/2014/main" id="{0262A6CE-2179-40FE-9FBB-9CAEED0BCE49}"/>
              </a:ext>
            </a:extLst>
          </p:cNvPr>
          <p:cNvSpPr>
            <a:spLocks noGrp="1"/>
          </p:cNvSpPr>
          <p:nvPr>
            <p:ph type="title"/>
          </p:nvPr>
        </p:nvSpPr>
        <p:spPr>
          <a:xfrm>
            <a:off x="140276" y="193543"/>
            <a:ext cx="7516665" cy="677335"/>
          </a:xfrm>
          <a:ln>
            <a:solidFill>
              <a:srgbClr val="8C5C32">
                <a:alpha val="50000"/>
              </a:srgbClr>
            </a:solidFill>
          </a:ln>
        </p:spPr>
        <p:txBody>
          <a:bodyPr>
            <a:noAutofit/>
          </a:bodyPr>
          <a:lstStyle/>
          <a:p>
            <a:pPr marL="0" indent="0"/>
            <a:r>
              <a:rPr lang="en-US" sz="2800" b="1" dirty="0">
                <a:solidFill>
                  <a:schemeClr val="tx1">
                    <a:lumMod val="95000"/>
                    <a:lumOff val="5000"/>
                  </a:schemeClr>
                </a:solidFill>
                <a:latin typeface="Arial Black" panose="020B0A04020102020204" pitchFamily="34" charset="0"/>
              </a:rPr>
              <a:t>Cost &amp; Outcome Analysis Dashboard</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7" name="Straight Connector 6">
            <a:extLst>
              <a:ext uri="{FF2B5EF4-FFF2-40B4-BE49-F238E27FC236}">
                <a16:creationId xmlns:a16="http://schemas.microsoft.com/office/drawing/2014/main" id="{8DB66B18-4F49-4986-8219-5C3D187C4C0B}"/>
              </a:ext>
            </a:extLst>
          </p:cNvPr>
          <p:cNvCxnSpPr>
            <a:cxnSpLocks/>
          </p:cNvCxnSpPr>
          <p:nvPr/>
        </p:nvCxnSpPr>
        <p:spPr>
          <a:xfrm>
            <a:off x="140275" y="278212"/>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9" name="Callout: Left Arrow 8">
            <a:extLst>
              <a:ext uri="{FF2B5EF4-FFF2-40B4-BE49-F238E27FC236}">
                <a16:creationId xmlns:a16="http://schemas.microsoft.com/office/drawing/2014/main" id="{44E114A1-8E1A-473F-B622-041A526D6C16}"/>
              </a:ext>
            </a:extLst>
          </p:cNvPr>
          <p:cNvSpPr/>
          <p:nvPr/>
        </p:nvSpPr>
        <p:spPr>
          <a:xfrm>
            <a:off x="9005454" y="1154546"/>
            <a:ext cx="2854038" cy="1562695"/>
          </a:xfrm>
          <a:prstGeom prst="leftArrowCallout">
            <a:avLst>
              <a:gd name="adj1" fmla="val 26880"/>
              <a:gd name="adj2" fmla="val 26313"/>
              <a:gd name="adj3" fmla="val 41667"/>
              <a:gd name="adj4" fmla="val 81678"/>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Dashboard Includes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Patient Outcome Distribution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Average Treatment Cost by Outcome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Length of Stay vs Treatment Cost (Scatter Chart)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Department Cost Analysis</a:t>
            </a:r>
          </a:p>
        </p:txBody>
      </p:sp>
      <p:sp>
        <p:nvSpPr>
          <p:cNvPr id="10" name="Callout: Left Arrow 9">
            <a:extLst>
              <a:ext uri="{FF2B5EF4-FFF2-40B4-BE49-F238E27FC236}">
                <a16:creationId xmlns:a16="http://schemas.microsoft.com/office/drawing/2014/main" id="{E5E41EAE-FDE3-419F-A105-7C4BE39D3B72}"/>
              </a:ext>
            </a:extLst>
          </p:cNvPr>
          <p:cNvSpPr/>
          <p:nvPr/>
        </p:nvSpPr>
        <p:spPr>
          <a:xfrm>
            <a:off x="9005454" y="3429000"/>
            <a:ext cx="2854037" cy="1562695"/>
          </a:xfrm>
          <a:prstGeom prst="leftArrowCallout">
            <a:avLst>
              <a:gd name="adj1" fmla="val 28732"/>
              <a:gd name="adj2" fmla="val 23535"/>
              <a:gd name="adj3" fmla="val 49074"/>
              <a:gd name="adj4" fmla="val 81874"/>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2060"/>
                </a:solidFill>
              </a:rPr>
              <a:t>Key Insights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Most patients recovered successfully.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ICU recorded the highest treatment cost.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Higher treatment costs did not always result in better patient outcomes.</a:t>
            </a:r>
          </a:p>
        </p:txBody>
      </p:sp>
    </p:spTree>
    <p:extLst>
      <p:ext uri="{BB962C8B-B14F-4D97-AF65-F5344CB8AC3E}">
        <p14:creationId xmlns:p14="http://schemas.microsoft.com/office/powerpoint/2010/main" val="4175233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34C0EA-6947-449F-8DF5-D4462B18BC20}"/>
              </a:ext>
            </a:extLst>
          </p:cNvPr>
          <p:cNvSpPr txBox="1">
            <a:spLocks/>
          </p:cNvSpPr>
          <p:nvPr/>
        </p:nvSpPr>
        <p:spPr>
          <a:xfrm>
            <a:off x="183957" y="148882"/>
            <a:ext cx="3833861" cy="677335"/>
          </a:xfrm>
          <a:prstGeom prst="rect">
            <a:avLst/>
          </a:prstGeom>
          <a:ln>
            <a:solidFill>
              <a:srgbClr val="8C5C32">
                <a:alpha val="50000"/>
              </a:srgb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tx1">
                    <a:lumMod val="95000"/>
                    <a:lumOff val="5000"/>
                  </a:schemeClr>
                </a:solidFill>
                <a:latin typeface="Arial Black" panose="020B0A04020102020204" pitchFamily="34" charset="0"/>
              </a:rPr>
              <a:t>Business Insight</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78CEBC41-5691-41D3-95B8-D6CB9962C82F}"/>
              </a:ext>
            </a:extLst>
          </p:cNvPr>
          <p:cNvCxnSpPr>
            <a:cxnSpLocks/>
          </p:cNvCxnSpPr>
          <p:nvPr/>
        </p:nvCxnSpPr>
        <p:spPr>
          <a:xfrm>
            <a:off x="183955" y="233551"/>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6C8C317E-DB0B-40F3-8E39-53DA5070D3DF}"/>
              </a:ext>
            </a:extLst>
          </p:cNvPr>
          <p:cNvSpPr/>
          <p:nvPr/>
        </p:nvSpPr>
        <p:spPr>
          <a:xfrm>
            <a:off x="119300" y="1203307"/>
            <a:ext cx="1469349" cy="499533"/>
          </a:xfrm>
          <a:prstGeom prst="roundRect">
            <a:avLst/>
          </a:prstGeom>
          <a:solidFill>
            <a:schemeClr val="accent1">
              <a:alpha val="50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algn="ctr"/>
            <a:r>
              <a:rPr lang="en-US" sz="1200" b="1" dirty="0">
                <a:solidFill>
                  <a:srgbClr val="002060"/>
                </a:solidFill>
                <a:latin typeface="Inter" panose="02000503000000020004" pitchFamily="2" charset="0"/>
              </a:rPr>
              <a:t>Key Findings</a:t>
            </a:r>
          </a:p>
        </p:txBody>
      </p:sp>
      <p:sp>
        <p:nvSpPr>
          <p:cNvPr id="8" name="Callout: Line with Border and Accent Bar 7">
            <a:extLst>
              <a:ext uri="{FF2B5EF4-FFF2-40B4-BE49-F238E27FC236}">
                <a16:creationId xmlns:a16="http://schemas.microsoft.com/office/drawing/2014/main" id="{A2FD38EC-44DF-4BC1-81DD-9C378B317304}"/>
              </a:ext>
            </a:extLst>
          </p:cNvPr>
          <p:cNvSpPr/>
          <p:nvPr/>
        </p:nvSpPr>
        <p:spPr>
          <a:xfrm>
            <a:off x="3408216" y="1453074"/>
            <a:ext cx="4978401" cy="677336"/>
          </a:xfrm>
          <a:prstGeom prst="accentBorderCallout1">
            <a:avLst>
              <a:gd name="adj1" fmla="val 32081"/>
              <a:gd name="adj2" fmla="val -5048"/>
              <a:gd name="adj3" fmla="val -33026"/>
              <a:gd name="adj4" fmla="val -36663"/>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050" b="1" dirty="0">
                <a:solidFill>
                  <a:srgbClr val="002060"/>
                </a:solidFill>
                <a:latin typeface="Inter" panose="02000503000000020004" pitchFamily="2" charset="0"/>
              </a:rPr>
              <a:t>Readmissions</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October had the highest readmission rate. </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Cardiology requires closer monitoring due to its high readmission rate.</a:t>
            </a:r>
          </a:p>
          <a:p>
            <a:pPr marL="171450" indent="-171450" algn="ctr">
              <a:buFont typeface="Arial" panose="020B0604020202020204" pitchFamily="34" charset="0"/>
              <a:buChar char="•"/>
            </a:pPr>
            <a:endParaRPr lang="en-US" sz="1050" dirty="0">
              <a:solidFill>
                <a:srgbClr val="002060"/>
              </a:solidFill>
              <a:latin typeface="Inter" panose="02000503000000020004" pitchFamily="2" charset="0"/>
            </a:endParaRPr>
          </a:p>
        </p:txBody>
      </p:sp>
      <p:sp>
        <p:nvSpPr>
          <p:cNvPr id="9" name="Rectangle: Rounded Corners 8">
            <a:extLst>
              <a:ext uri="{FF2B5EF4-FFF2-40B4-BE49-F238E27FC236}">
                <a16:creationId xmlns:a16="http://schemas.microsoft.com/office/drawing/2014/main" id="{D460A038-1E33-4675-AA3B-69A57DB6335E}"/>
              </a:ext>
            </a:extLst>
          </p:cNvPr>
          <p:cNvSpPr/>
          <p:nvPr/>
        </p:nvSpPr>
        <p:spPr>
          <a:xfrm>
            <a:off x="119300" y="2125408"/>
            <a:ext cx="1469349" cy="499533"/>
          </a:xfrm>
          <a:prstGeom prst="roundRect">
            <a:avLst/>
          </a:prstGeom>
          <a:solidFill>
            <a:schemeClr val="accent1">
              <a:alpha val="50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algn="ctr"/>
            <a:r>
              <a:rPr lang="en-US" sz="1200" b="1" dirty="0">
                <a:solidFill>
                  <a:srgbClr val="002060"/>
                </a:solidFill>
                <a:latin typeface="Inter" panose="02000503000000020004" pitchFamily="2" charset="0"/>
              </a:rPr>
              <a:t>Patient Risk</a:t>
            </a:r>
          </a:p>
        </p:txBody>
      </p:sp>
      <p:sp>
        <p:nvSpPr>
          <p:cNvPr id="10" name="Callout: Line with Border and Accent Bar 9">
            <a:extLst>
              <a:ext uri="{FF2B5EF4-FFF2-40B4-BE49-F238E27FC236}">
                <a16:creationId xmlns:a16="http://schemas.microsoft.com/office/drawing/2014/main" id="{14C1C5D6-3934-470C-B11C-4DD153E86D1A}"/>
              </a:ext>
            </a:extLst>
          </p:cNvPr>
          <p:cNvSpPr/>
          <p:nvPr/>
        </p:nvSpPr>
        <p:spPr>
          <a:xfrm>
            <a:off x="3408215" y="2375174"/>
            <a:ext cx="4978401" cy="677336"/>
          </a:xfrm>
          <a:prstGeom prst="accentBorderCallout1">
            <a:avLst>
              <a:gd name="adj1" fmla="val 32081"/>
              <a:gd name="adj2" fmla="val -5048"/>
              <a:gd name="adj3" fmla="val -33026"/>
              <a:gd name="adj4" fmla="val -36663"/>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050" dirty="0">
                <a:solidFill>
                  <a:srgbClr val="002060"/>
                </a:solidFill>
              </a:rPr>
              <a:t>Elderly patients (61+) are at the greatest risk of readmission.</a:t>
            </a:r>
            <a:endParaRPr lang="en-US" sz="1050" dirty="0">
              <a:solidFill>
                <a:srgbClr val="002060"/>
              </a:solidFill>
              <a:latin typeface="Inter" panose="02000503000000020004" pitchFamily="2" charset="0"/>
            </a:endParaRPr>
          </a:p>
        </p:txBody>
      </p:sp>
      <p:sp>
        <p:nvSpPr>
          <p:cNvPr id="11" name="Rectangle: Rounded Corners 10">
            <a:extLst>
              <a:ext uri="{FF2B5EF4-FFF2-40B4-BE49-F238E27FC236}">
                <a16:creationId xmlns:a16="http://schemas.microsoft.com/office/drawing/2014/main" id="{51DD4C55-5652-4593-AB83-6645E7963A8B}"/>
              </a:ext>
            </a:extLst>
          </p:cNvPr>
          <p:cNvSpPr/>
          <p:nvPr/>
        </p:nvSpPr>
        <p:spPr>
          <a:xfrm>
            <a:off x="119299" y="3045900"/>
            <a:ext cx="1469349" cy="499533"/>
          </a:xfrm>
          <a:prstGeom prst="roundRect">
            <a:avLst/>
          </a:prstGeom>
          <a:solidFill>
            <a:schemeClr val="accent1">
              <a:alpha val="50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algn="ctr"/>
            <a:r>
              <a:rPr lang="en-US" sz="1200" b="1" dirty="0">
                <a:solidFill>
                  <a:srgbClr val="002060"/>
                </a:solidFill>
                <a:latin typeface="Inter" panose="02000503000000020004" pitchFamily="2" charset="0"/>
              </a:rPr>
              <a:t>Cost</a:t>
            </a:r>
          </a:p>
        </p:txBody>
      </p:sp>
      <p:sp>
        <p:nvSpPr>
          <p:cNvPr id="12" name="Callout: Line with Border and Accent Bar 11">
            <a:extLst>
              <a:ext uri="{FF2B5EF4-FFF2-40B4-BE49-F238E27FC236}">
                <a16:creationId xmlns:a16="http://schemas.microsoft.com/office/drawing/2014/main" id="{DB8B557A-6650-4AFE-88C4-EF13D6CE07E2}"/>
              </a:ext>
            </a:extLst>
          </p:cNvPr>
          <p:cNvSpPr/>
          <p:nvPr/>
        </p:nvSpPr>
        <p:spPr>
          <a:xfrm>
            <a:off x="3408215" y="3295667"/>
            <a:ext cx="4978401" cy="677336"/>
          </a:xfrm>
          <a:prstGeom prst="accentBorderCallout1">
            <a:avLst>
              <a:gd name="adj1" fmla="val 32081"/>
              <a:gd name="adj2" fmla="val -5048"/>
              <a:gd name="adj3" fmla="val -33026"/>
              <a:gd name="adj4" fmla="val -36663"/>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050" dirty="0">
                <a:solidFill>
                  <a:srgbClr val="002060"/>
                </a:solidFill>
              </a:rPr>
              <a:t>ICU and Oncology incur the highest treatment costs.</a:t>
            </a:r>
            <a:endParaRPr lang="en-US" sz="1050" dirty="0">
              <a:solidFill>
                <a:srgbClr val="002060"/>
              </a:solidFill>
              <a:latin typeface="Inter" panose="02000503000000020004" pitchFamily="2" charset="0"/>
            </a:endParaRPr>
          </a:p>
        </p:txBody>
      </p:sp>
      <p:sp>
        <p:nvSpPr>
          <p:cNvPr id="13" name="Rectangle: Rounded Corners 12">
            <a:extLst>
              <a:ext uri="{FF2B5EF4-FFF2-40B4-BE49-F238E27FC236}">
                <a16:creationId xmlns:a16="http://schemas.microsoft.com/office/drawing/2014/main" id="{0903BE3E-55FA-4537-90D3-76A9A9909655}"/>
              </a:ext>
            </a:extLst>
          </p:cNvPr>
          <p:cNvSpPr/>
          <p:nvPr/>
        </p:nvSpPr>
        <p:spPr>
          <a:xfrm>
            <a:off x="119299" y="3961390"/>
            <a:ext cx="1469349" cy="499533"/>
          </a:xfrm>
          <a:prstGeom prst="roundRect">
            <a:avLst/>
          </a:prstGeom>
          <a:solidFill>
            <a:schemeClr val="accent1">
              <a:alpha val="50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algn="ctr"/>
            <a:r>
              <a:rPr lang="en-US" sz="1200" b="1" dirty="0">
                <a:solidFill>
                  <a:srgbClr val="002060"/>
                </a:solidFill>
                <a:latin typeface="Inter" panose="02000503000000020004" pitchFamily="2" charset="0"/>
              </a:rPr>
              <a:t>Outcomes</a:t>
            </a:r>
          </a:p>
        </p:txBody>
      </p:sp>
      <p:sp>
        <p:nvSpPr>
          <p:cNvPr id="14" name="Callout: Line with Border and Accent Bar 13">
            <a:extLst>
              <a:ext uri="{FF2B5EF4-FFF2-40B4-BE49-F238E27FC236}">
                <a16:creationId xmlns:a16="http://schemas.microsoft.com/office/drawing/2014/main" id="{00BFDFE9-DD72-4CD2-91B9-7453D60B9DC8}"/>
              </a:ext>
            </a:extLst>
          </p:cNvPr>
          <p:cNvSpPr/>
          <p:nvPr/>
        </p:nvSpPr>
        <p:spPr>
          <a:xfrm>
            <a:off x="3408215" y="4211157"/>
            <a:ext cx="4978401" cy="677336"/>
          </a:xfrm>
          <a:prstGeom prst="accentBorderCallout1">
            <a:avLst>
              <a:gd name="adj1" fmla="val 32081"/>
              <a:gd name="adj2" fmla="val -5048"/>
              <a:gd name="adj3" fmla="val -33026"/>
              <a:gd name="adj4" fmla="val -36663"/>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050" dirty="0">
                <a:solidFill>
                  <a:srgbClr val="002060"/>
                </a:solidFill>
              </a:rPr>
              <a:t>Recovered patients represent the majority of hospital discharges.</a:t>
            </a:r>
            <a:endParaRPr lang="en-US" sz="1050" dirty="0">
              <a:solidFill>
                <a:srgbClr val="002060"/>
              </a:solidFill>
              <a:latin typeface="Inter" panose="02000503000000020004" pitchFamily="2" charset="0"/>
            </a:endParaRPr>
          </a:p>
        </p:txBody>
      </p:sp>
      <p:sp>
        <p:nvSpPr>
          <p:cNvPr id="15" name="Arrow: Down 14">
            <a:extLst>
              <a:ext uri="{FF2B5EF4-FFF2-40B4-BE49-F238E27FC236}">
                <a16:creationId xmlns:a16="http://schemas.microsoft.com/office/drawing/2014/main" id="{90B9C388-DF78-4025-B1EB-CFFF77A2BDE0}"/>
              </a:ext>
            </a:extLst>
          </p:cNvPr>
          <p:cNvSpPr/>
          <p:nvPr/>
        </p:nvSpPr>
        <p:spPr>
          <a:xfrm>
            <a:off x="581891" y="1702840"/>
            <a:ext cx="563418" cy="310687"/>
          </a:xfrm>
          <a:prstGeom prst="downArrow">
            <a:avLst/>
          </a:prstGeom>
          <a:solidFill>
            <a:schemeClr val="accent1">
              <a:alpha val="50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a:p>
        </p:txBody>
      </p:sp>
    </p:spTree>
    <p:extLst>
      <p:ext uri="{BB962C8B-B14F-4D97-AF65-F5344CB8AC3E}">
        <p14:creationId xmlns:p14="http://schemas.microsoft.com/office/powerpoint/2010/main" val="3620291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2CF631-288A-4282-825D-6BCE6CEC48DE}"/>
              </a:ext>
            </a:extLst>
          </p:cNvPr>
          <p:cNvSpPr txBox="1">
            <a:spLocks/>
          </p:cNvSpPr>
          <p:nvPr/>
        </p:nvSpPr>
        <p:spPr>
          <a:xfrm>
            <a:off x="183957" y="148882"/>
            <a:ext cx="3833861" cy="677335"/>
          </a:xfrm>
          <a:prstGeom prst="rect">
            <a:avLst/>
          </a:prstGeom>
          <a:ln>
            <a:solidFill>
              <a:srgbClr val="8C5C32">
                <a:alpha val="50000"/>
              </a:srgb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tx1">
                    <a:lumMod val="95000"/>
                    <a:lumOff val="5000"/>
                  </a:schemeClr>
                </a:solidFill>
                <a:latin typeface="Arial Black" panose="020B0A04020102020204" pitchFamily="34" charset="0"/>
              </a:rPr>
              <a:t>Recommendation </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1AAF8FB5-12C0-49B8-B04E-C1201FF98943}"/>
              </a:ext>
            </a:extLst>
          </p:cNvPr>
          <p:cNvCxnSpPr>
            <a:cxnSpLocks/>
          </p:cNvCxnSpPr>
          <p:nvPr/>
        </p:nvCxnSpPr>
        <p:spPr>
          <a:xfrm>
            <a:off x="183955" y="233551"/>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1CE8F7EC-9DEE-4684-82F5-786AE0C443C6}"/>
              </a:ext>
            </a:extLst>
          </p:cNvPr>
          <p:cNvSpPr/>
          <p:nvPr/>
        </p:nvSpPr>
        <p:spPr>
          <a:xfrm>
            <a:off x="173944" y="1091426"/>
            <a:ext cx="1589429" cy="499533"/>
          </a:xfrm>
          <a:prstGeom prst="roundRect">
            <a:avLst/>
          </a:prstGeom>
          <a:solidFill>
            <a:schemeClr val="accent1">
              <a:alpha val="50000"/>
            </a:scheme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algn="ctr"/>
            <a:r>
              <a:rPr lang="en-US" sz="1100" b="1" dirty="0">
                <a:solidFill>
                  <a:srgbClr val="002060"/>
                </a:solidFill>
                <a:latin typeface="Inter" panose="02000503000000020004" pitchFamily="2" charset="0"/>
              </a:rPr>
              <a:t>Recommendations</a:t>
            </a:r>
          </a:p>
        </p:txBody>
      </p:sp>
      <p:sp>
        <p:nvSpPr>
          <p:cNvPr id="7" name="Callout: Line with Border and Accent Bar 6">
            <a:extLst>
              <a:ext uri="{FF2B5EF4-FFF2-40B4-BE49-F238E27FC236}">
                <a16:creationId xmlns:a16="http://schemas.microsoft.com/office/drawing/2014/main" id="{6B4EA61E-8529-4BAD-BF48-6922A9555B1F}"/>
              </a:ext>
            </a:extLst>
          </p:cNvPr>
          <p:cNvSpPr/>
          <p:nvPr/>
        </p:nvSpPr>
        <p:spPr>
          <a:xfrm>
            <a:off x="2235201" y="1736436"/>
            <a:ext cx="5477164" cy="393973"/>
          </a:xfrm>
          <a:prstGeom prst="accentBorderCallout1">
            <a:avLst>
              <a:gd name="adj1" fmla="val 32081"/>
              <a:gd name="adj2" fmla="val -5048"/>
              <a:gd name="adj3" fmla="val -37501"/>
              <a:gd name="adj4" fmla="val -8990"/>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100" dirty="0">
                <a:solidFill>
                  <a:srgbClr val="002060"/>
                </a:solidFill>
                <a:latin typeface="Inter" panose="02000503000000020004" pitchFamily="2" charset="0"/>
              </a:rPr>
              <a:t>Improve discharge planning for elderly patients.</a:t>
            </a:r>
          </a:p>
        </p:txBody>
      </p:sp>
      <p:sp>
        <p:nvSpPr>
          <p:cNvPr id="9" name="Callout: Line with Border and Accent Bar 8">
            <a:extLst>
              <a:ext uri="{FF2B5EF4-FFF2-40B4-BE49-F238E27FC236}">
                <a16:creationId xmlns:a16="http://schemas.microsoft.com/office/drawing/2014/main" id="{A4AD8CFE-BCE4-4909-BCAF-7660E67DB77C}"/>
              </a:ext>
            </a:extLst>
          </p:cNvPr>
          <p:cNvSpPr/>
          <p:nvPr/>
        </p:nvSpPr>
        <p:spPr>
          <a:xfrm>
            <a:off x="2235200" y="2658536"/>
            <a:ext cx="5477164" cy="393973"/>
          </a:xfrm>
          <a:prstGeom prst="accentBorderCallout1">
            <a:avLst>
              <a:gd name="adj1" fmla="val 32081"/>
              <a:gd name="adj2" fmla="val -5048"/>
              <a:gd name="adj3" fmla="val -266874"/>
              <a:gd name="adj4" fmla="val -15533"/>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100" dirty="0">
                <a:solidFill>
                  <a:srgbClr val="002060"/>
                </a:solidFill>
                <a:latin typeface="Inter" panose="02000503000000020004" pitchFamily="2" charset="0"/>
              </a:rPr>
              <a:t>Strengthen follow-up care to reduce readmissions.</a:t>
            </a:r>
          </a:p>
        </p:txBody>
      </p:sp>
      <p:sp>
        <p:nvSpPr>
          <p:cNvPr id="11" name="Callout: Line with Border and Accent Bar 10">
            <a:extLst>
              <a:ext uri="{FF2B5EF4-FFF2-40B4-BE49-F238E27FC236}">
                <a16:creationId xmlns:a16="http://schemas.microsoft.com/office/drawing/2014/main" id="{57FA00E8-3526-43ED-9830-8F99B1EACFD7}"/>
              </a:ext>
            </a:extLst>
          </p:cNvPr>
          <p:cNvSpPr/>
          <p:nvPr/>
        </p:nvSpPr>
        <p:spPr>
          <a:xfrm>
            <a:off x="2235200" y="3579029"/>
            <a:ext cx="5477164" cy="393973"/>
          </a:xfrm>
          <a:prstGeom prst="accentBorderCallout1">
            <a:avLst>
              <a:gd name="adj1" fmla="val 32081"/>
              <a:gd name="adj2" fmla="val -5048"/>
              <a:gd name="adj3" fmla="val -494334"/>
              <a:gd name="adj4" fmla="val -22447"/>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100" dirty="0">
                <a:solidFill>
                  <a:srgbClr val="002060"/>
                </a:solidFill>
                <a:latin typeface="Inter" panose="02000503000000020004" pitchFamily="2" charset="0"/>
              </a:rPr>
              <a:t>Review treatment processes in Cardiology.</a:t>
            </a:r>
          </a:p>
        </p:txBody>
      </p:sp>
      <p:sp>
        <p:nvSpPr>
          <p:cNvPr id="13" name="Callout: Line with Border and Accent Bar 12">
            <a:extLst>
              <a:ext uri="{FF2B5EF4-FFF2-40B4-BE49-F238E27FC236}">
                <a16:creationId xmlns:a16="http://schemas.microsoft.com/office/drawing/2014/main" id="{D5C595ED-3E47-4B79-9653-EC1A6C488843}"/>
              </a:ext>
            </a:extLst>
          </p:cNvPr>
          <p:cNvSpPr/>
          <p:nvPr/>
        </p:nvSpPr>
        <p:spPr>
          <a:xfrm>
            <a:off x="2235200" y="4494519"/>
            <a:ext cx="5477164" cy="393973"/>
          </a:xfrm>
          <a:prstGeom prst="accentBorderCallout1">
            <a:avLst>
              <a:gd name="adj1" fmla="val 32081"/>
              <a:gd name="adj2" fmla="val -5048"/>
              <a:gd name="adj3" fmla="val -724353"/>
              <a:gd name="adj4" fmla="val -27809"/>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100" dirty="0">
                <a:solidFill>
                  <a:srgbClr val="002060"/>
                </a:solidFill>
                <a:latin typeface="Inter" panose="02000503000000020004" pitchFamily="2" charset="0"/>
              </a:rPr>
              <a:t>Monitor spending in high-cost departments such as ICU and Oncology.</a:t>
            </a:r>
          </a:p>
        </p:txBody>
      </p:sp>
      <p:sp>
        <p:nvSpPr>
          <p:cNvPr id="15" name="Callout: Line with Border and Accent Bar 14">
            <a:extLst>
              <a:ext uri="{FF2B5EF4-FFF2-40B4-BE49-F238E27FC236}">
                <a16:creationId xmlns:a16="http://schemas.microsoft.com/office/drawing/2014/main" id="{E913B68E-B349-4D14-8E25-5B6E3A924DF6}"/>
              </a:ext>
            </a:extLst>
          </p:cNvPr>
          <p:cNvSpPr/>
          <p:nvPr/>
        </p:nvSpPr>
        <p:spPr>
          <a:xfrm>
            <a:off x="2235200" y="5410009"/>
            <a:ext cx="5477164" cy="393973"/>
          </a:xfrm>
          <a:prstGeom prst="accentBorderCallout1">
            <a:avLst>
              <a:gd name="adj1" fmla="val 32081"/>
              <a:gd name="adj2" fmla="val -5048"/>
              <a:gd name="adj3" fmla="val -960975"/>
              <a:gd name="adj4" fmla="val -33307"/>
            </a:avLst>
          </a:prstGeom>
          <a:solidFill>
            <a:srgbClr val="F2E9D8">
              <a:alpha val="50000"/>
            </a:srgbClr>
          </a:solidFill>
          <a:ln>
            <a:solidFill>
              <a:schemeClr val="accent1">
                <a:shade val="50000"/>
                <a:alpha val="9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100" dirty="0">
                <a:solidFill>
                  <a:srgbClr val="002060"/>
                </a:solidFill>
                <a:latin typeface="Inter" panose="02000503000000020004" pitchFamily="2" charset="0"/>
              </a:rPr>
              <a:t>Continue using Power BI dashboards for ongoing performance monitoring.</a:t>
            </a:r>
          </a:p>
        </p:txBody>
      </p:sp>
    </p:spTree>
    <p:extLst>
      <p:ext uri="{BB962C8B-B14F-4D97-AF65-F5344CB8AC3E}">
        <p14:creationId xmlns:p14="http://schemas.microsoft.com/office/powerpoint/2010/main" val="1251319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E9D8">
            <a:alpha val="50000"/>
          </a:srgb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B49F52-75F1-465F-95C4-FE2962E3C63E}"/>
              </a:ext>
            </a:extLst>
          </p:cNvPr>
          <p:cNvSpPr txBox="1">
            <a:spLocks/>
          </p:cNvSpPr>
          <p:nvPr/>
        </p:nvSpPr>
        <p:spPr>
          <a:xfrm>
            <a:off x="183958" y="148882"/>
            <a:ext cx="3436698" cy="677335"/>
          </a:xfrm>
          <a:prstGeom prst="rect">
            <a:avLst/>
          </a:prstGeom>
          <a:ln>
            <a:solidFill>
              <a:srgbClr val="8C5C32">
                <a:alpha val="50000"/>
              </a:srgb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tx1">
                    <a:lumMod val="95000"/>
                    <a:lumOff val="5000"/>
                  </a:schemeClr>
                </a:solidFill>
                <a:latin typeface="Arial Black" panose="020B0A04020102020204" pitchFamily="34" charset="0"/>
              </a:rPr>
              <a:t>Conclusion </a:t>
            </a:r>
            <a:br>
              <a:rPr lang="en-US" sz="3200" b="1" dirty="0">
                <a:solidFill>
                  <a:schemeClr val="tx1">
                    <a:lumMod val="95000"/>
                    <a:lumOff val="5000"/>
                  </a:schemeClr>
                </a:solidFill>
              </a:rPr>
            </a:br>
            <a:r>
              <a:rPr lang="en-US" sz="1000" b="1" dirty="0">
                <a:solidFill>
                  <a:srgbClr val="002060">
                    <a:alpha val="50000"/>
                  </a:srgbClr>
                </a:solidFill>
              </a:rPr>
              <a:t>POWER BI INTERNSHIP PROJECT  | TECH STUDIO ACADEMY 2026</a:t>
            </a:r>
          </a:p>
        </p:txBody>
      </p:sp>
      <p:cxnSp>
        <p:nvCxnSpPr>
          <p:cNvPr id="5" name="Straight Connector 4">
            <a:extLst>
              <a:ext uri="{FF2B5EF4-FFF2-40B4-BE49-F238E27FC236}">
                <a16:creationId xmlns:a16="http://schemas.microsoft.com/office/drawing/2014/main" id="{8FB7CA7C-AE69-422E-BF72-4765F718C47D}"/>
              </a:ext>
            </a:extLst>
          </p:cNvPr>
          <p:cNvCxnSpPr>
            <a:cxnSpLocks/>
          </p:cNvCxnSpPr>
          <p:nvPr/>
        </p:nvCxnSpPr>
        <p:spPr>
          <a:xfrm>
            <a:off x="183955" y="233551"/>
            <a:ext cx="0" cy="499533"/>
          </a:xfrm>
          <a:prstGeom prst="line">
            <a:avLst/>
          </a:prstGeom>
          <a:ln w="38100">
            <a:solidFill>
              <a:srgbClr val="8C5C32">
                <a:alpha val="50000"/>
              </a:srgbClr>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126277C7-C597-4CA2-8099-C6DA22FE3B8D}"/>
              </a:ext>
            </a:extLst>
          </p:cNvPr>
          <p:cNvSpPr/>
          <p:nvPr/>
        </p:nvSpPr>
        <p:spPr>
          <a:xfrm>
            <a:off x="908234" y="1034693"/>
            <a:ext cx="1071398" cy="277529"/>
          </a:xfrm>
          <a:prstGeom prst="roundRect">
            <a:avLst/>
          </a:prstGeom>
          <a:solidFill>
            <a:schemeClr val="tx2">
              <a:alpha val="50000"/>
            </a:schemeClr>
          </a:solidFill>
          <a:ln>
            <a:solidFill>
              <a:srgbClr val="8C5C32">
                <a:alpha val="99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algn="ctr"/>
            <a:r>
              <a:rPr lang="en-US" sz="1200" b="1" dirty="0">
                <a:solidFill>
                  <a:srgbClr val="002060"/>
                </a:solidFill>
                <a:latin typeface="Inter" panose="02000503000000020004" pitchFamily="2" charset="0"/>
              </a:rPr>
              <a:t>Conclusion</a:t>
            </a:r>
          </a:p>
        </p:txBody>
      </p:sp>
      <p:sp>
        <p:nvSpPr>
          <p:cNvPr id="7" name="Callout: Line with Border and Accent Bar 6">
            <a:extLst>
              <a:ext uri="{FF2B5EF4-FFF2-40B4-BE49-F238E27FC236}">
                <a16:creationId xmlns:a16="http://schemas.microsoft.com/office/drawing/2014/main" id="{F4631072-F3FC-4E41-B40F-CB892EE3DD61}"/>
              </a:ext>
            </a:extLst>
          </p:cNvPr>
          <p:cNvSpPr/>
          <p:nvPr/>
        </p:nvSpPr>
        <p:spPr>
          <a:xfrm>
            <a:off x="718886" y="1376656"/>
            <a:ext cx="5587999" cy="1117162"/>
          </a:xfrm>
          <a:prstGeom prst="accentBorderCallout1">
            <a:avLst>
              <a:gd name="adj1" fmla="val 32081"/>
              <a:gd name="adj2" fmla="val -5048"/>
              <a:gd name="adj3" fmla="val -22280"/>
              <a:gd name="adj4" fmla="val 3012"/>
            </a:avLst>
          </a:prstGeom>
          <a:solidFill>
            <a:schemeClr val="tx2">
              <a:alpha val="50000"/>
            </a:schemeClr>
          </a:solidFill>
          <a:ln>
            <a:solidFill>
              <a:srgbClr val="8C5C32">
                <a:alpha val="9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a:buFont typeface="Arial" panose="020B0604020202020204" pitchFamily="34" charset="0"/>
              <a:buChar char="•"/>
            </a:pPr>
            <a:r>
              <a:rPr lang="en-US" sz="1100" dirty="0">
                <a:solidFill>
                  <a:srgbClr val="002060"/>
                </a:solidFill>
              </a:rPr>
              <a:t>This project successfully transformed raw hospital data into an interactive Power BI dashboard that provides valuable insights into patient admissions, readmissions, treatment costs, and outcomes.</a:t>
            </a:r>
          </a:p>
          <a:p>
            <a:pPr marL="171450" indent="-171450">
              <a:buFont typeface="Arial" panose="020B0604020202020204" pitchFamily="34" charset="0"/>
              <a:buChar char="•"/>
            </a:pPr>
            <a:r>
              <a:rPr lang="en-US" sz="1100" dirty="0">
                <a:solidFill>
                  <a:srgbClr val="002060"/>
                </a:solidFill>
              </a:rPr>
              <a:t>The dashboard enables healthcare managers to monitor key performance indicators, identify high-risk areas, and make informed decisions to improve patient care and operational efficiency.</a:t>
            </a:r>
          </a:p>
        </p:txBody>
      </p:sp>
      <p:sp>
        <p:nvSpPr>
          <p:cNvPr id="8" name="Rectangle: Diagonal Corners Snipped 7">
            <a:extLst>
              <a:ext uri="{FF2B5EF4-FFF2-40B4-BE49-F238E27FC236}">
                <a16:creationId xmlns:a16="http://schemas.microsoft.com/office/drawing/2014/main" id="{68881CA3-1BA8-46D4-A8AD-BD5D80A0A2A3}"/>
              </a:ext>
            </a:extLst>
          </p:cNvPr>
          <p:cNvSpPr/>
          <p:nvPr/>
        </p:nvSpPr>
        <p:spPr>
          <a:xfrm>
            <a:off x="183955" y="5754254"/>
            <a:ext cx="11610881" cy="954863"/>
          </a:xfrm>
          <a:prstGeom prst="snip2DiagRect">
            <a:avLst/>
          </a:prstGeom>
          <a:solidFill>
            <a:srgbClr val="F2E9D8">
              <a:alpha val="50000"/>
            </a:srgbClr>
          </a:solidFill>
          <a:ln w="34925">
            <a:solidFill>
              <a:srgbClr val="8C5C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spc="600" dirty="0">
                <a:solidFill>
                  <a:srgbClr val="002060"/>
                </a:solidFill>
                <a:latin typeface="Inter" panose="02000503000000020004" pitchFamily="2" charset="0"/>
              </a:rPr>
              <a:t>THANK YOU</a:t>
            </a:r>
          </a:p>
        </p:txBody>
      </p:sp>
      <p:pic>
        <p:nvPicPr>
          <p:cNvPr id="10" name="Picture 9">
            <a:extLst>
              <a:ext uri="{FF2B5EF4-FFF2-40B4-BE49-F238E27FC236}">
                <a16:creationId xmlns:a16="http://schemas.microsoft.com/office/drawing/2014/main" id="{57C2C9FA-7AC2-4923-9136-C2B655E8FC2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83956" y="2867888"/>
            <a:ext cx="11610880" cy="2512292"/>
          </a:xfrm>
          <a:prstGeom prst="rect">
            <a:avLst/>
          </a:prstGeom>
          <a:effectLst>
            <a:outerShdw blurRad="50800" dist="38100" dir="13500000" algn="br" rotWithShape="0">
              <a:srgbClr val="8C5C32">
                <a:alpha val="40000"/>
              </a:srgbClr>
            </a:outerShdw>
          </a:effectLst>
        </p:spPr>
      </p:pic>
      <p:sp>
        <p:nvSpPr>
          <p:cNvPr id="11" name="Rectangle: Diagonal Corners Snipped 10">
            <a:extLst>
              <a:ext uri="{FF2B5EF4-FFF2-40B4-BE49-F238E27FC236}">
                <a16:creationId xmlns:a16="http://schemas.microsoft.com/office/drawing/2014/main" id="{289C5C62-2F4D-45FF-ABFA-8C9D25D79434}"/>
              </a:ext>
            </a:extLst>
          </p:cNvPr>
          <p:cNvSpPr/>
          <p:nvPr/>
        </p:nvSpPr>
        <p:spPr>
          <a:xfrm>
            <a:off x="6635534" y="1376655"/>
            <a:ext cx="5159302" cy="1117161"/>
          </a:xfrm>
          <a:prstGeom prst="snip2DiagRect">
            <a:avLst/>
          </a:prstGeom>
          <a:solidFill>
            <a:schemeClr val="tx2">
              <a:alpha val="50000"/>
            </a:schemeClr>
          </a:solidFill>
          <a:ln>
            <a:solidFill>
              <a:srgbClr val="8C5C32">
                <a:alpha val="9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50" dirty="0">
                <a:solidFill>
                  <a:srgbClr val="002060"/>
                </a:solidFill>
                <a:latin typeface="Inter" panose="02000503000000020004" pitchFamily="2" charset="0"/>
              </a:rPr>
              <a:t>Developed an interactive Power BI dashboard to monitor hospital performance.</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Identified departments and patient groups with higher readmission risk.</a:t>
            </a:r>
          </a:p>
          <a:p>
            <a:pPr marL="171450" indent="-171450">
              <a:buFont typeface="Arial" panose="020B0604020202020204" pitchFamily="34" charset="0"/>
              <a:buChar char="•"/>
            </a:pPr>
            <a:r>
              <a:rPr lang="en-US" sz="1050" dirty="0">
                <a:solidFill>
                  <a:srgbClr val="002060"/>
                </a:solidFill>
                <a:latin typeface="Inter" panose="02000503000000020004" pitchFamily="2" charset="0"/>
              </a:rPr>
              <a:t>Provided data-driven recommendations to improve patient care and resource allocation.</a:t>
            </a:r>
          </a:p>
        </p:txBody>
      </p:sp>
      <p:sp>
        <p:nvSpPr>
          <p:cNvPr id="14" name="Rectangle: Top Corners Snipped 13">
            <a:extLst>
              <a:ext uri="{FF2B5EF4-FFF2-40B4-BE49-F238E27FC236}">
                <a16:creationId xmlns:a16="http://schemas.microsoft.com/office/drawing/2014/main" id="{05E92176-D093-4E4D-ACD9-0EDC913E8486}"/>
              </a:ext>
            </a:extLst>
          </p:cNvPr>
          <p:cNvSpPr/>
          <p:nvPr/>
        </p:nvSpPr>
        <p:spPr>
          <a:xfrm>
            <a:off x="6635534" y="1034693"/>
            <a:ext cx="1510939" cy="272251"/>
          </a:xfrm>
          <a:prstGeom prst="snip2SameRect">
            <a:avLst/>
          </a:prstGeom>
          <a:solidFill>
            <a:schemeClr val="tx2">
              <a:alpha val="50000"/>
            </a:schemeClr>
          </a:solidFill>
          <a:ln>
            <a:solidFill>
              <a:srgbClr val="8C5C32">
                <a:alpha val="9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2060"/>
                </a:solidFill>
                <a:latin typeface="Inter" panose="02000503000000020004" pitchFamily="2" charset="0"/>
              </a:rPr>
              <a:t>Key Takeaways</a:t>
            </a:r>
          </a:p>
        </p:txBody>
      </p:sp>
    </p:spTree>
    <p:extLst>
      <p:ext uri="{BB962C8B-B14F-4D97-AF65-F5344CB8AC3E}">
        <p14:creationId xmlns:p14="http://schemas.microsoft.com/office/powerpoint/2010/main" val="2210065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5516</TotalTime>
  <Words>997</Words>
  <Application>Microsoft Office PowerPoint</Application>
  <PresentationFormat>Widescreen</PresentationFormat>
  <Paragraphs>134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Black</vt:lpstr>
      <vt:lpstr>Calibri</vt:lpstr>
      <vt:lpstr>Calibri Light</vt:lpstr>
      <vt:lpstr>Inter</vt:lpstr>
      <vt:lpstr>Wingdings</vt:lpstr>
      <vt:lpstr>Office Theme</vt:lpstr>
      <vt:lpstr>Hospital Admission Data Project</vt:lpstr>
      <vt:lpstr>Project Overview POWER BI INTERNSHIP PROJECT  | TECH STUDIO ACADEMY 2026</vt:lpstr>
      <vt:lpstr>PowerPoint Presentation</vt:lpstr>
      <vt:lpstr>PowerPoint Presentation</vt:lpstr>
      <vt:lpstr>DAX Measures POWER BI INTERNSHIP PROJECT  | TECH STUDIO ACADEMY 2026</vt:lpstr>
      <vt:lpstr>Hospital Overview Dashboard  POWER BI INTERNSHIP PROJECT  | TECH STUDIO ACADEMY 2026</vt:lpstr>
      <vt:lpstr>Readmission Analysis Dashboard POWER BI INTERNSHIP PROJECT  | TECH STUDIO ACADEMY 2026</vt:lpstr>
      <vt:lpstr>Cost &amp; Outcome Analysis Dashboard POWER BI INTERNSHIP PROJECT  | TECH STUDIO ACADEMY 2026</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Admission Data Analysis Dashboard</dc:title>
  <dc:creator>Ahmed Adebowale</dc:creator>
  <cp:lastModifiedBy>Ahmed Adebowale</cp:lastModifiedBy>
  <cp:revision>65</cp:revision>
  <dcterms:created xsi:type="dcterms:W3CDTF">2026-08-04T19:47:57Z</dcterms:created>
  <dcterms:modified xsi:type="dcterms:W3CDTF">2026-08-08T15:44:23Z</dcterms:modified>
</cp:coreProperties>
</file>